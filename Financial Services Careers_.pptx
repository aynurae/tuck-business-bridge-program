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47" r:id="rId1"/>
  </p:sldMasterIdLst>
  <p:notesMasterIdLst>
    <p:notesMasterId r:id="rId23"/>
  </p:notesMasterIdLst>
  <p:handoutMasterIdLst>
    <p:handoutMasterId r:id="rId24"/>
  </p:handoutMasterIdLst>
  <p:sldIdLst>
    <p:sldId id="256" r:id="rId2"/>
    <p:sldId id="280" r:id="rId3"/>
    <p:sldId id="264" r:id="rId4"/>
    <p:sldId id="279" r:id="rId5"/>
    <p:sldId id="267" r:id="rId6"/>
    <p:sldId id="268" r:id="rId7"/>
    <p:sldId id="265" r:id="rId8"/>
    <p:sldId id="269" r:id="rId9"/>
    <p:sldId id="270" r:id="rId10"/>
    <p:sldId id="282" r:id="rId11"/>
    <p:sldId id="271" r:id="rId12"/>
    <p:sldId id="273" r:id="rId13"/>
    <p:sldId id="284" r:id="rId14"/>
    <p:sldId id="281" r:id="rId15"/>
    <p:sldId id="285" r:id="rId16"/>
    <p:sldId id="288" r:id="rId17"/>
    <p:sldId id="290" r:id="rId18"/>
    <p:sldId id="291" r:id="rId19"/>
    <p:sldId id="292" r:id="rId20"/>
    <p:sldId id="293" r:id="rId21"/>
    <p:sldId id="294" r:id="rId2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DF9603"/>
    <a:srgbClr val="FCA904"/>
    <a:srgbClr val="467C3B"/>
    <a:srgbClr val="249567"/>
    <a:srgbClr val="00693E"/>
    <a:srgbClr val="3C7F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0" autoAdjust="0"/>
    <p:restoredTop sz="94660"/>
  </p:normalViewPr>
  <p:slideViewPr>
    <p:cSldViewPr snapToGrid="0">
      <p:cViewPr>
        <p:scale>
          <a:sx n="67" d="100"/>
          <a:sy n="67" d="100"/>
        </p:scale>
        <p:origin x="124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8844"/>
    </p:cViewPr>
  </p:sorterViewPr>
  <p:notesViewPr>
    <p:cSldViewPr snapToGrid="0">
      <p:cViewPr varScale="1">
        <p:scale>
          <a:sx n="57" d="100"/>
          <a:sy n="57" d="100"/>
        </p:scale>
        <p:origin x="280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B20104C-1DD9-4611-8942-90FDDF07E73D}" type="datetimeFigureOut">
              <a:rPr lang="en-US" smtClean="0"/>
              <a:t>7/10/2023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C2C7812-DF28-44C6-8473-9FDB358F93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594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5EEA195-B431-4577-94F1-C221DEBF4A90}" type="datetimeFigureOut">
              <a:rPr lang="en-US" smtClean="0"/>
              <a:t>7/10/2023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0BC3F1E-3320-4948-8F07-9B5F275FC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752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BC3F1E-3320-4948-8F07-9B5F275FC4A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01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accent4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4AE87-DC7A-4808-A556-CCFC084DEB2C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0" y="6356350"/>
            <a:ext cx="9144000" cy="501650"/>
          </a:xfrm>
          <a:prstGeom prst="rect">
            <a:avLst/>
          </a:prstGeom>
          <a:solidFill>
            <a:srgbClr val="467C3B"/>
          </a:solidFill>
          <a:ln>
            <a:solidFill>
              <a:srgbClr val="467C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9" rIns="51435" bIns="2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85766"/>
            <a:endParaRPr lang="en-US" sz="1200" dirty="0">
              <a:solidFill>
                <a:prstClr val="white"/>
              </a:solidFill>
              <a:latin typeface="Trade Gothic LT Std" panose="020B0503020502020204" pitchFamily="34" charset="0"/>
            </a:endParaRPr>
          </a:p>
        </p:txBody>
      </p:sp>
      <p:sp>
        <p:nvSpPr>
          <p:cNvPr id="12" name="Date Placeholder 3"/>
          <p:cNvSpPr txBox="1">
            <a:spLocks/>
          </p:cNvSpPr>
          <p:nvPr userDrawn="1"/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401" y="6424370"/>
            <a:ext cx="2131595" cy="36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0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879317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08D62-6392-437F-BDFA-6A2AEB1C8AF5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365054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3F6E6-A021-4E18-B8CB-DF65DD58D6C0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152583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FBB3-0A93-4CDA-A993-44D32A9D84CD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/>
          <a:lstStyle/>
          <a:p>
            <a:fld id="{8F4DC451-FA73-49C6-951A-202B6DD395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98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4766-2C27-47CE-A7A2-E9A1B3B91F42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/>
          <a:lstStyle/>
          <a:p>
            <a:fld id="{8F4DC451-FA73-49C6-951A-202B6DD395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911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356350"/>
            <a:ext cx="9144000" cy="501650"/>
          </a:xfrm>
          <a:prstGeom prst="rect">
            <a:avLst/>
          </a:prstGeom>
          <a:solidFill>
            <a:srgbClr val="467C3B"/>
          </a:solidFill>
          <a:ln>
            <a:solidFill>
              <a:srgbClr val="467C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9" rIns="51435" bIns="2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85766"/>
            <a:endParaRPr lang="en-US" sz="1200" dirty="0">
              <a:solidFill>
                <a:prstClr val="white"/>
              </a:solidFill>
              <a:latin typeface="Trade Gothic LT Std" panose="020B05030205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54BD511-C975-4C0E-A32B-791FD64682A0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Confidential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401" y="6424370"/>
            <a:ext cx="2131595" cy="36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2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1" r:id="rId3"/>
    <p:sldLayoutId id="2147483952" r:id="rId4"/>
    <p:sldLayoutId id="2147483953" r:id="rId5"/>
    <p:sldLayoutId id="2147483957" r:id="rId6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Finance Careers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 Tuck Business </a:t>
            </a:r>
            <a:r>
              <a:rPr lang="en-US" b="1"/>
              <a:t>Bridge Program</a:t>
            </a:r>
            <a:endParaRPr lang="en-US" b="1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317967" y="3570329"/>
            <a:ext cx="4406652" cy="442741"/>
          </a:xfrm>
          <a:prstGeom prst="rect">
            <a:avLst/>
          </a:prstGeom>
        </p:spPr>
        <p:txBody>
          <a:bodyPr vert="horz" lIns="68580" tIns="34291" rIns="68580" bIns="34291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cap="none" dirty="0">
                <a:solidFill>
                  <a:schemeClr val="accent4"/>
                </a:solidFill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7935687" y="1728423"/>
            <a:ext cx="671004" cy="24571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</p:spTree>
    <p:extLst>
      <p:ext uri="{BB962C8B-B14F-4D97-AF65-F5344CB8AC3E}">
        <p14:creationId xmlns:p14="http://schemas.microsoft.com/office/powerpoint/2010/main" val="4075234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37361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>
            <a:normAutofit fontScale="90000"/>
          </a:bodyPr>
          <a:lstStyle/>
          <a:p>
            <a:br>
              <a:rPr lang="en-US" u="sng" dirty="0"/>
            </a:br>
            <a:br>
              <a:rPr lang="en-US" u="sng" dirty="0"/>
            </a:br>
            <a:r>
              <a:rPr lang="en-US" u="sng" dirty="0"/>
              <a:t>Financial Services</a:t>
            </a:r>
            <a:br>
              <a:rPr lang="en-US" u="sng" dirty="0"/>
            </a:b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64834"/>
            <a:ext cx="9144000" cy="4722424"/>
          </a:xfrm>
          <a:solidFill>
            <a:schemeClr val="bg2"/>
          </a:solidFill>
        </p:spPr>
        <p:txBody>
          <a:bodyPr/>
          <a:lstStyle/>
          <a:p>
            <a:pPr lvl="1">
              <a:buFont typeface="Wingdings" panose="05000000000000000000" pitchFamily="2" charset="2"/>
              <a:buChar char="q"/>
            </a:pPr>
            <a:r>
              <a:rPr lang="en-US" sz="3000" b="1" dirty="0">
                <a:solidFill>
                  <a:schemeClr val="tx1"/>
                </a:solidFill>
                <a:cs typeface="Arial" pitchFamily="34" charset="0"/>
              </a:rPr>
              <a:t>  </a:t>
            </a:r>
            <a:r>
              <a:rPr lang="en-US" sz="3000" dirty="0">
                <a:solidFill>
                  <a:schemeClr val="tx1"/>
                </a:solidFill>
                <a:cs typeface="Arial" pitchFamily="34" charset="0"/>
              </a:rPr>
              <a:t>Investment Banks</a:t>
            </a:r>
            <a:r>
              <a:rPr lang="en-US" sz="3000" dirty="0">
                <a:solidFill>
                  <a:srgbClr val="FF0000"/>
                </a:solidFill>
                <a:cs typeface="Arial" pitchFamily="34" charset="0"/>
              </a:rPr>
              <a:t>	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rgbClr val="FF0000"/>
                </a:solidFill>
                <a:cs typeface="Arial" pitchFamily="34" charset="0"/>
              </a:rPr>
              <a:t>  </a:t>
            </a:r>
            <a:r>
              <a:rPr lang="en-US" sz="3000" dirty="0">
                <a:solidFill>
                  <a:schemeClr val="tx1"/>
                </a:solidFill>
                <a:cs typeface="Arial" pitchFamily="34" charset="0"/>
              </a:rPr>
              <a:t>Commercial Banks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rgbClr val="FF0000"/>
                </a:solidFill>
                <a:cs typeface="Arial" pitchFamily="34" charset="0"/>
              </a:rPr>
              <a:t>  </a:t>
            </a:r>
            <a:r>
              <a:rPr lang="en-US" sz="3000" dirty="0">
                <a:solidFill>
                  <a:schemeClr val="tx1"/>
                </a:solidFill>
                <a:cs typeface="Arial" pitchFamily="34" charset="0"/>
              </a:rPr>
              <a:t>Asset Managers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chemeClr val="tx1"/>
                </a:solidFill>
                <a:cs typeface="Arial" pitchFamily="34" charset="0"/>
              </a:rPr>
              <a:t>  Hedge Funds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chemeClr val="tx1"/>
                </a:solidFill>
                <a:cs typeface="Arial" pitchFamily="34" charset="0"/>
              </a:rPr>
              <a:t>  Private Equity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chemeClr val="tx1"/>
                </a:solidFill>
                <a:cs typeface="Arial" pitchFamily="34" charset="0"/>
              </a:rPr>
              <a:t>  Venture Capital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rgbClr val="FF0000"/>
                </a:solidFill>
                <a:cs typeface="Arial" pitchFamily="34" charset="0"/>
              </a:rPr>
              <a:t>  </a:t>
            </a:r>
            <a:r>
              <a:rPr lang="en-US" sz="3000" dirty="0">
                <a:solidFill>
                  <a:schemeClr val="tx1"/>
                </a:solidFill>
                <a:cs typeface="Arial" pitchFamily="34" charset="0"/>
              </a:rPr>
              <a:t>Insurance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rgbClr val="FF0000"/>
                </a:solidFill>
                <a:cs typeface="Arial" pitchFamily="34" charset="0"/>
              </a:rPr>
              <a:t>  </a:t>
            </a:r>
            <a:r>
              <a:rPr lang="en-US" sz="3000" dirty="0">
                <a:solidFill>
                  <a:schemeClr val="tx1"/>
                </a:solidFill>
                <a:cs typeface="Arial" pitchFamily="34" charset="0"/>
              </a:rPr>
              <a:t>Corporate Finance roles within companies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644438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37361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>
            <a:normAutofit fontScale="90000"/>
          </a:bodyPr>
          <a:lstStyle/>
          <a:p>
            <a:br>
              <a:rPr lang="en-US" u="sng" dirty="0"/>
            </a:br>
            <a:br>
              <a:rPr lang="en-US" u="sng" dirty="0">
                <a:solidFill>
                  <a:schemeClr val="tx1"/>
                </a:solidFill>
              </a:rPr>
            </a:br>
            <a:r>
              <a:rPr lang="en-US" u="sng" dirty="0">
                <a:solidFill>
                  <a:schemeClr val="tx1"/>
                </a:solidFill>
              </a:rPr>
              <a:t>Investment Bank</a:t>
            </a:r>
            <a:br>
              <a:rPr lang="en-US" u="sng" dirty="0">
                <a:solidFill>
                  <a:schemeClr val="tx1"/>
                </a:solidFill>
              </a:rPr>
            </a:b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64834"/>
            <a:ext cx="9144000" cy="4722424"/>
          </a:xfrm>
          <a:solidFill>
            <a:schemeClr val="bg2"/>
          </a:solidFill>
        </p:spPr>
        <p:txBody>
          <a:bodyPr/>
          <a:lstStyle/>
          <a:p>
            <a:pPr marL="578358" lvl="1" indent="-285750"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tx1"/>
                </a:solidFill>
              </a:rPr>
              <a:t> </a:t>
            </a:r>
            <a:r>
              <a:rPr lang="en-US" altLang="en-US" sz="3000" dirty="0">
                <a:solidFill>
                  <a:schemeClr val="tx1"/>
                </a:solidFill>
              </a:rPr>
              <a:t>A financial intermediary that specializes in complex</a:t>
            </a:r>
          </a:p>
          <a:p>
            <a:pPr marL="292608" lvl="1" indent="0">
              <a:buNone/>
            </a:pPr>
            <a:r>
              <a:rPr lang="en-US" altLang="en-US" sz="3000" dirty="0">
                <a:solidFill>
                  <a:schemeClr val="tx1"/>
                </a:solidFill>
              </a:rPr>
              <a:t>    financial transactions, primarily for institutions,</a:t>
            </a:r>
          </a:p>
          <a:p>
            <a:pPr marL="292608" lvl="1" indent="0">
              <a:buNone/>
            </a:pPr>
            <a:r>
              <a:rPr lang="en-US" altLang="en-US" sz="3000" dirty="0">
                <a:solidFill>
                  <a:schemeClr val="tx1"/>
                </a:solidFill>
              </a:rPr>
              <a:t>    governments and high net worth individuals</a:t>
            </a:r>
          </a:p>
          <a:p>
            <a:pPr marL="749808" lvl="1" indent="-457200">
              <a:buFont typeface="Wingdings" panose="05000000000000000000" pitchFamily="2" charset="2"/>
              <a:buChar char="Ø"/>
            </a:pPr>
            <a:endParaRPr lang="en-US" altLang="en-US" sz="3000" dirty="0">
              <a:solidFill>
                <a:schemeClr val="tx1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3000" dirty="0">
                <a:solidFill>
                  <a:schemeClr val="tx1"/>
                </a:solidFill>
              </a:rPr>
              <a:t> Main functions include </a:t>
            </a:r>
            <a:r>
              <a:rPr lang="en-US" altLang="en-US" sz="3000" u="sng" dirty="0">
                <a:solidFill>
                  <a:schemeClr val="tx1"/>
                </a:solidFill>
              </a:rPr>
              <a:t>investment banking </a:t>
            </a:r>
          </a:p>
          <a:p>
            <a:pPr marL="201168" lvl="1" indent="0">
              <a:buNone/>
            </a:pPr>
            <a:r>
              <a:rPr lang="en-US" altLang="en-US" sz="3000" dirty="0">
                <a:solidFill>
                  <a:schemeClr val="tx1"/>
                </a:solidFill>
              </a:rPr>
              <a:t>     (advisory), </a:t>
            </a:r>
            <a:r>
              <a:rPr lang="en-US" altLang="en-US" sz="3000" u="sng" dirty="0">
                <a:solidFill>
                  <a:schemeClr val="tx1"/>
                </a:solidFill>
              </a:rPr>
              <a:t>sales and trading </a:t>
            </a:r>
            <a:r>
              <a:rPr lang="en-US" altLang="en-US" sz="3000" dirty="0">
                <a:solidFill>
                  <a:schemeClr val="tx1"/>
                </a:solidFill>
              </a:rPr>
              <a:t>(underwriting and </a:t>
            </a:r>
          </a:p>
          <a:p>
            <a:pPr marL="201168" lvl="1" indent="0">
              <a:buNone/>
            </a:pPr>
            <a:r>
              <a:rPr lang="en-US" altLang="en-US" sz="3000" dirty="0">
                <a:solidFill>
                  <a:schemeClr val="tx1"/>
                </a:solidFill>
              </a:rPr>
              <a:t>     investing), </a:t>
            </a:r>
            <a:r>
              <a:rPr lang="en-US" altLang="en-US" sz="3000" u="sng" dirty="0">
                <a:solidFill>
                  <a:schemeClr val="tx1"/>
                </a:solidFill>
              </a:rPr>
              <a:t>research</a:t>
            </a:r>
            <a:r>
              <a:rPr lang="en-US" altLang="en-US" sz="3000" dirty="0">
                <a:solidFill>
                  <a:schemeClr val="tx1"/>
                </a:solidFill>
              </a:rPr>
              <a:t>, </a:t>
            </a:r>
            <a:r>
              <a:rPr lang="en-US" altLang="en-US" sz="3000" u="sng" dirty="0">
                <a:solidFill>
                  <a:schemeClr val="tx1"/>
                </a:solidFill>
              </a:rPr>
              <a:t>private wealth management</a:t>
            </a:r>
            <a:r>
              <a:rPr lang="en-US" altLang="en-US" sz="3000" dirty="0">
                <a:solidFill>
                  <a:schemeClr val="tx1"/>
                </a:solidFill>
              </a:rPr>
              <a:t>, </a:t>
            </a:r>
          </a:p>
          <a:p>
            <a:pPr marL="201168" lvl="1" indent="0">
              <a:buNone/>
            </a:pPr>
            <a:r>
              <a:rPr lang="en-US" altLang="en-US" sz="3000" dirty="0">
                <a:solidFill>
                  <a:schemeClr val="tx1"/>
                </a:solidFill>
              </a:rPr>
              <a:t>     </a:t>
            </a:r>
            <a:r>
              <a:rPr lang="en-US" altLang="en-US" sz="3000" u="sng" dirty="0">
                <a:solidFill>
                  <a:schemeClr val="tx1"/>
                </a:solidFill>
              </a:rPr>
              <a:t>asset management</a:t>
            </a:r>
            <a:r>
              <a:rPr lang="en-US" altLang="en-US" sz="3000" dirty="0">
                <a:solidFill>
                  <a:schemeClr val="tx1"/>
                </a:solidFill>
              </a:rPr>
              <a:t> (mutual funds)</a:t>
            </a:r>
            <a:endParaRPr lang="en-US" altLang="en-US" sz="3000" u="sng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759765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50800"/>
            <a:ext cx="9144000" cy="1737361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>
            <a:normAutofit fontScale="90000"/>
          </a:bodyPr>
          <a:lstStyle/>
          <a:p>
            <a:br>
              <a:rPr lang="en-US" u="sng" dirty="0"/>
            </a:br>
            <a:br>
              <a:rPr lang="en-US" u="sng" dirty="0"/>
            </a:br>
            <a:r>
              <a:rPr lang="en-US" dirty="0"/>
              <a:t>  “</a:t>
            </a:r>
            <a:r>
              <a:rPr lang="en-US" u="sng" dirty="0">
                <a:solidFill>
                  <a:schemeClr val="tx1"/>
                </a:solidFill>
              </a:rPr>
              <a:t>Bulge Bracket” Investment Bank</a:t>
            </a:r>
            <a:br>
              <a:rPr lang="en-US" u="sng" dirty="0"/>
            </a:b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97001"/>
            <a:ext cx="9144000" cy="4934788"/>
          </a:xfrm>
          <a:solidFill>
            <a:schemeClr val="bg2"/>
          </a:solidFill>
        </p:spPr>
        <p:txBody>
          <a:bodyPr>
            <a:normAutofit fontScale="85000" lnSpcReduction="10000"/>
          </a:bodyPr>
          <a:lstStyle/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The largest of the investment banks</a:t>
            </a:r>
          </a:p>
          <a:p>
            <a:pPr marL="201168" lvl="1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Global presence, in US (NY, Boston, CHI, SF/Menlo are main offices)</a:t>
            </a:r>
          </a:p>
          <a:p>
            <a:pPr marL="201168" lvl="1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Deal sizes can range from $500 mm to $billions </a:t>
            </a:r>
          </a:p>
          <a:p>
            <a:pPr marL="201168" lvl="1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Offer advisory, market making, research, investment,</a:t>
            </a:r>
          </a:p>
          <a:p>
            <a:pPr marL="201168" lvl="1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     liquidity, and risk services</a:t>
            </a:r>
          </a:p>
          <a:p>
            <a:pPr marL="201168" lvl="1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Include: BOAML, Barclays, Citigroup, Deutsche Bank, Goldman Sachs</a:t>
            </a:r>
          </a:p>
          <a:p>
            <a:pPr marL="201168" lvl="1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     JP Morgan, Morgan Stanley, UBS, Wells Fargo…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388623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37361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>
            <a:normAutofit fontScale="90000"/>
          </a:bodyPr>
          <a:lstStyle/>
          <a:p>
            <a:br>
              <a:rPr lang="en-US" u="sng" dirty="0"/>
            </a:br>
            <a:br>
              <a:rPr lang="en-US" u="sng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u="sng" dirty="0">
                <a:solidFill>
                  <a:schemeClr val="tx1"/>
                </a:solidFill>
              </a:rPr>
              <a:t>“Middle Market” Investment Bank</a:t>
            </a:r>
            <a:br>
              <a:rPr lang="en-US" u="sng" dirty="0"/>
            </a:b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97001"/>
            <a:ext cx="9144000" cy="4934788"/>
          </a:xfrm>
          <a:solidFill>
            <a:schemeClr val="bg2"/>
          </a:solidFill>
        </p:spPr>
        <p:txBody>
          <a:bodyPr>
            <a:normAutofit fontScale="85000" lnSpcReduction="10000"/>
          </a:bodyPr>
          <a:lstStyle/>
          <a:p>
            <a:pPr lvl="1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3000" dirty="0">
                <a:solidFill>
                  <a:schemeClr val="tx1"/>
                </a:solidFill>
              </a:rPr>
              <a:t> </a:t>
            </a:r>
            <a:r>
              <a:rPr lang="en-US" altLang="en-US" sz="3100" dirty="0">
                <a:solidFill>
                  <a:schemeClr val="tx1"/>
                </a:solidFill>
              </a:rPr>
              <a:t>Smaller than a “bulge bracket” – bigger than a “boutique”</a:t>
            </a:r>
          </a:p>
          <a:p>
            <a:pPr marL="201168" lvl="1" indent="0">
              <a:lnSpc>
                <a:spcPct val="100000"/>
              </a:lnSpc>
              <a:spcAft>
                <a:spcPts val="300"/>
              </a:spcAft>
              <a:buNone/>
            </a:pPr>
            <a:endParaRPr lang="en-US" altLang="en-US" sz="31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3100" dirty="0">
                <a:solidFill>
                  <a:schemeClr val="tx1"/>
                </a:solidFill>
              </a:rPr>
              <a:t> Focus on mid size transactions ($200-$billions)</a:t>
            </a:r>
          </a:p>
          <a:p>
            <a:pPr marL="201168" lvl="1" indent="0">
              <a:lnSpc>
                <a:spcPct val="100000"/>
              </a:lnSpc>
              <a:spcAft>
                <a:spcPts val="300"/>
              </a:spcAft>
              <a:buNone/>
            </a:pPr>
            <a:endParaRPr lang="en-US" altLang="en-US" sz="31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3100" dirty="0">
                <a:solidFill>
                  <a:schemeClr val="tx1"/>
                </a:solidFill>
              </a:rPr>
              <a:t> Often have stronger presence in U.S. than internationally</a:t>
            </a:r>
          </a:p>
          <a:p>
            <a:pPr marL="201168" lvl="1" indent="0">
              <a:lnSpc>
                <a:spcPct val="100000"/>
              </a:lnSpc>
              <a:spcAft>
                <a:spcPts val="300"/>
              </a:spcAft>
              <a:buNone/>
            </a:pPr>
            <a:endParaRPr lang="en-US" altLang="en-US" sz="31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3100" dirty="0">
                <a:solidFill>
                  <a:schemeClr val="tx1"/>
                </a:solidFill>
              </a:rPr>
              <a:t> Offer more limited services than bulge bracket</a:t>
            </a:r>
          </a:p>
          <a:p>
            <a:pPr marL="201168" lvl="1" indent="0">
              <a:lnSpc>
                <a:spcPct val="100000"/>
              </a:lnSpc>
              <a:spcAft>
                <a:spcPts val="300"/>
              </a:spcAft>
              <a:buNone/>
            </a:pPr>
            <a:endParaRPr lang="en-US" altLang="en-US" sz="31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3100" dirty="0">
                <a:solidFill>
                  <a:schemeClr val="tx1"/>
                </a:solidFill>
              </a:rPr>
              <a:t> Include: Jeffries, Guggenheim, Harris Williams, Moelis</a:t>
            </a:r>
          </a:p>
          <a:p>
            <a:pPr marL="201168" lvl="1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altLang="en-US" sz="3100" dirty="0">
                <a:solidFill>
                  <a:schemeClr val="tx1"/>
                </a:solidFill>
              </a:rPr>
              <a:t>     </a:t>
            </a:r>
            <a:r>
              <a:rPr lang="en-US" altLang="en-US" sz="3100" dirty="0" err="1">
                <a:solidFill>
                  <a:schemeClr val="tx1"/>
                </a:solidFill>
              </a:rPr>
              <a:t>Houlihan</a:t>
            </a:r>
            <a:r>
              <a:rPr lang="en-US" altLang="en-US" sz="3100" dirty="0">
                <a:solidFill>
                  <a:schemeClr val="tx1"/>
                </a:solidFill>
              </a:rPr>
              <a:t> Lokey, Lazard,  Piper Jaffray, RW Baird, William Blair,  </a:t>
            </a:r>
          </a:p>
          <a:p>
            <a:pPr marL="201168" lvl="1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altLang="en-US" sz="3100" dirty="0">
                <a:solidFill>
                  <a:schemeClr val="tx1"/>
                </a:solidFill>
              </a:rPr>
              <a:t>     Evercore, Greenhill….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845976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37361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>
            <a:normAutofit fontScale="90000"/>
          </a:bodyPr>
          <a:lstStyle/>
          <a:p>
            <a:br>
              <a:rPr lang="en-US" u="sng" dirty="0"/>
            </a:br>
            <a:br>
              <a:rPr lang="en-US" u="sng" dirty="0"/>
            </a:br>
            <a:r>
              <a:rPr lang="en-US" dirty="0">
                <a:solidFill>
                  <a:schemeClr val="tx1"/>
                </a:solidFill>
              </a:rPr>
              <a:t>  “</a:t>
            </a:r>
            <a:r>
              <a:rPr lang="en-US" u="sng" dirty="0">
                <a:solidFill>
                  <a:schemeClr val="tx1"/>
                </a:solidFill>
              </a:rPr>
              <a:t>Boutique”</a:t>
            </a:r>
            <a:br>
              <a:rPr lang="en-US" u="sng" dirty="0"/>
            </a:b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64833"/>
            <a:ext cx="9144000" cy="4766955"/>
          </a:xfrm>
          <a:solidFill>
            <a:schemeClr val="bg2"/>
          </a:solidFill>
        </p:spPr>
        <p:txBody>
          <a:bodyPr>
            <a:normAutofit fontScale="85000" lnSpcReduction="10000"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tx1"/>
                </a:solidFill>
              </a:rPr>
              <a:t> </a:t>
            </a:r>
            <a:r>
              <a:rPr lang="en-US" altLang="en-US" sz="3000" dirty="0">
                <a:solidFill>
                  <a:schemeClr val="tx1"/>
                </a:solidFill>
              </a:rPr>
              <a:t>Focus on smaller transactions ($10mm- $billions)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3000" dirty="0">
                <a:solidFill>
                  <a:schemeClr val="tx1"/>
                </a:solidFill>
              </a:rPr>
              <a:t>“Elite” boutiques can work on $ billion plus deal size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3000" dirty="0">
                <a:solidFill>
                  <a:schemeClr val="tx1"/>
                </a:solidFill>
              </a:rPr>
              <a:t> May be more regionally focused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3000" dirty="0">
                <a:solidFill>
                  <a:schemeClr val="tx1"/>
                </a:solidFill>
              </a:rPr>
              <a:t> May have expertise in a certain industry sector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3000" dirty="0">
                <a:solidFill>
                  <a:schemeClr val="tx1"/>
                </a:solidFill>
              </a:rPr>
              <a:t> Usually advisory services only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3000" dirty="0">
                <a:solidFill>
                  <a:schemeClr val="tx1"/>
                </a:solidFill>
              </a:rPr>
              <a:t> Often founded by previous bulge bracket bankers</a:t>
            </a:r>
          </a:p>
          <a:p>
            <a:pPr marL="201168" lvl="1" indent="0">
              <a:lnSpc>
                <a:spcPct val="150000"/>
              </a:lnSpc>
              <a:buNone/>
            </a:pPr>
            <a:r>
              <a:rPr lang="en-US" altLang="en-US" sz="3000" dirty="0">
                <a:solidFill>
                  <a:schemeClr val="tx1"/>
                </a:solidFill>
              </a:rPr>
              <a:t>     include: </a:t>
            </a:r>
            <a:r>
              <a:rPr lang="en-US" altLang="en-US" sz="3000" dirty="0" err="1">
                <a:solidFill>
                  <a:schemeClr val="tx1"/>
                </a:solidFill>
              </a:rPr>
              <a:t>Centerview</a:t>
            </a:r>
            <a:r>
              <a:rPr lang="en-US" altLang="en-US" sz="3000" dirty="0">
                <a:solidFill>
                  <a:schemeClr val="tx1"/>
                </a:solidFill>
              </a:rPr>
              <a:t>, Greenhill, </a:t>
            </a:r>
            <a:r>
              <a:rPr lang="en-US" altLang="en-US" sz="3000" dirty="0" err="1">
                <a:solidFill>
                  <a:schemeClr val="tx1"/>
                </a:solidFill>
              </a:rPr>
              <a:t>Moelis</a:t>
            </a:r>
            <a:r>
              <a:rPr lang="en-US" altLang="en-US" sz="3000" dirty="0">
                <a:solidFill>
                  <a:schemeClr val="tx1"/>
                </a:solidFill>
              </a:rPr>
              <a:t>, PJT, Tudor Pickering …</a:t>
            </a:r>
          </a:p>
          <a:p>
            <a:pPr marL="201168" lvl="1" indent="0">
              <a:lnSpc>
                <a:spcPct val="150000"/>
              </a:lnSpc>
              <a:buNone/>
            </a:pPr>
            <a:endParaRPr lang="en-US" altLang="en-US" sz="3000" dirty="0">
              <a:solidFill>
                <a:schemeClr val="tx1"/>
              </a:solidFill>
            </a:endParaRPr>
          </a:p>
          <a:p>
            <a:pPr marL="201168" lvl="1" indent="0">
              <a:buNone/>
            </a:pPr>
            <a:endParaRPr lang="en-US" sz="3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574530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564833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>
            <a:normAutofit fontScale="90000"/>
          </a:bodyPr>
          <a:lstStyle/>
          <a:p>
            <a:br>
              <a:rPr lang="en-US" u="sng" dirty="0"/>
            </a:br>
            <a:br>
              <a:rPr lang="en-US" u="sng" dirty="0"/>
            </a:br>
            <a:r>
              <a:rPr lang="en-US" dirty="0"/>
              <a:t>  </a:t>
            </a:r>
            <a:r>
              <a:rPr lang="en-US" u="sng" dirty="0">
                <a:solidFill>
                  <a:schemeClr val="tx1"/>
                </a:solidFill>
              </a:rPr>
              <a:t>Investment Bankers</a:t>
            </a:r>
            <a:br>
              <a:rPr lang="en-US" u="sng" dirty="0"/>
            </a:b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33499"/>
            <a:ext cx="9144000" cy="4998289"/>
          </a:xfrm>
          <a:solidFill>
            <a:schemeClr val="bg2"/>
          </a:solidFill>
        </p:spPr>
        <p:txBody>
          <a:bodyPr>
            <a:normAutofit fontScale="92500" lnSpcReduction="10000"/>
          </a:bodyPr>
          <a:lstStyle/>
          <a:p>
            <a:pPr lvl="1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tx1"/>
                </a:solidFill>
              </a:rPr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Investment bankers provide financial advice to </a:t>
            </a:r>
          </a:p>
          <a:p>
            <a:pPr marL="201168" lvl="1" indent="0">
              <a:spcAft>
                <a:spcPts val="300"/>
              </a:spcAft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    corporations, government entities, and institutions </a:t>
            </a:r>
          </a:p>
          <a:p>
            <a:pPr marL="201168" lvl="1" indent="0">
              <a:spcAft>
                <a:spcPts val="300"/>
              </a:spcAft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 </a:t>
            </a:r>
          </a:p>
          <a:p>
            <a:pPr lvl="1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</a:rPr>
              <a:t> Help companies raise money in the debt and equity</a:t>
            </a:r>
          </a:p>
          <a:p>
            <a:pPr marL="201168" lvl="1" indent="0">
              <a:spcAft>
                <a:spcPts val="300"/>
              </a:spcAft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    markets to achieve a financial goal (M&amp;A, corporate </a:t>
            </a:r>
          </a:p>
          <a:p>
            <a:pPr marL="201168" lvl="1" indent="0">
              <a:spcAft>
                <a:spcPts val="300"/>
              </a:spcAft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    financing, etc…)</a:t>
            </a:r>
          </a:p>
          <a:p>
            <a:pPr marL="201168" lvl="1" indent="0">
              <a:spcAft>
                <a:spcPts val="300"/>
              </a:spcAft>
              <a:buNone/>
            </a:pPr>
            <a:endParaRPr lang="en-US" altLang="en-US" sz="2800" dirty="0">
              <a:solidFill>
                <a:schemeClr val="tx1"/>
              </a:solidFill>
            </a:endParaRPr>
          </a:p>
          <a:p>
            <a:pPr lvl="1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</a:rPr>
              <a:t> Bankers are organized by industry and/or product</a:t>
            </a:r>
          </a:p>
          <a:p>
            <a:pPr lvl="1">
              <a:spcAft>
                <a:spcPts val="500"/>
              </a:spcAft>
              <a:buFont typeface="Wingdings" panose="05000000000000000000" pitchFamily="2" charset="2"/>
              <a:buChar char="Ø"/>
            </a:pPr>
            <a:endParaRPr lang="en-US" altLang="en-US" sz="2800" dirty="0">
              <a:solidFill>
                <a:schemeClr val="tx1"/>
              </a:solidFill>
            </a:endParaRPr>
          </a:p>
          <a:p>
            <a:pPr lvl="1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</a:rPr>
              <a:t> Analytical skills with increasing client focus over time</a:t>
            </a:r>
          </a:p>
          <a:p>
            <a:pPr marL="201168" lvl="1" indent="0">
              <a:spcAft>
                <a:spcPts val="300"/>
              </a:spcAft>
              <a:buNone/>
            </a:pPr>
            <a:endParaRPr lang="en-US" altLang="en-US" sz="2800" dirty="0">
              <a:solidFill>
                <a:schemeClr val="tx1"/>
              </a:solidFill>
            </a:endParaRPr>
          </a:p>
          <a:p>
            <a:pPr lvl="1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</a:rPr>
              <a:t> Longer hours, compensation linked to performance</a:t>
            </a:r>
          </a:p>
          <a:p>
            <a:pPr marL="475488" lvl="2" indent="0"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194936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37361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>
            <a:normAutofit fontScale="90000"/>
          </a:bodyPr>
          <a:lstStyle/>
          <a:p>
            <a:br>
              <a:rPr lang="en-US" u="sng" dirty="0"/>
            </a:br>
            <a:br>
              <a:rPr lang="en-US" u="sng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u="sng" dirty="0">
                <a:solidFill>
                  <a:schemeClr val="tx1"/>
                </a:solidFill>
              </a:rPr>
              <a:t>Sales and Trading</a:t>
            </a:r>
            <a:br>
              <a:rPr lang="en-US" u="sng" dirty="0">
                <a:solidFill>
                  <a:schemeClr val="tx1"/>
                </a:solidFill>
              </a:rPr>
            </a:b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1"/>
            <a:ext cx="9144000" cy="4960188"/>
          </a:xfrm>
          <a:solidFill>
            <a:schemeClr val="bg2"/>
          </a:solidFill>
        </p:spPr>
        <p:txBody>
          <a:bodyPr>
            <a:normAutofit lnSpcReduction="10000"/>
          </a:bodyPr>
          <a:lstStyle/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cs typeface="Arial" pitchFamily="34" charset="0"/>
              </a:rPr>
              <a:t> </a:t>
            </a: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Facilitate issuance of stocks and bonds for investment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    banking clients who want to raise capital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sz="2200" dirty="0">
              <a:solidFill>
                <a:schemeClr val="tx1"/>
              </a:solidFill>
              <a:cs typeface="Arial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 Leverage Banks’ capital in markets for profit (trading)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sz="2200" dirty="0">
              <a:solidFill>
                <a:schemeClr val="tx1"/>
              </a:solidFill>
              <a:cs typeface="Arial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 Provide liquidity (raise short term cash) for institutional clients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sz="2200" dirty="0">
              <a:solidFill>
                <a:schemeClr val="tx1"/>
              </a:solidFill>
              <a:cs typeface="Arial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altLang="en-US" sz="2200" dirty="0">
                <a:solidFill>
                  <a:schemeClr val="tx1"/>
                </a:solidFill>
              </a:rPr>
              <a:t>Primarily bulge bracket banks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sz="2200" dirty="0">
              <a:solidFill>
                <a:schemeClr val="tx1"/>
              </a:solidFill>
              <a:cs typeface="Arial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 Compensation linked to revenues produced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  <a:cs typeface="Arial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Can include roles in support functions (trade reconciliation, risk)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tx1"/>
              </a:solidFill>
              <a:cs typeface="Arial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3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22138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37361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>
            <a:normAutofit fontScale="90000"/>
          </a:bodyPr>
          <a:lstStyle/>
          <a:p>
            <a:br>
              <a:rPr lang="en-US" u="sng" dirty="0"/>
            </a:br>
            <a:br>
              <a:rPr lang="en-US" u="sng" dirty="0"/>
            </a:br>
            <a:r>
              <a:rPr lang="en-US" dirty="0"/>
              <a:t>  </a:t>
            </a:r>
            <a:r>
              <a:rPr lang="en-US" u="sng" dirty="0">
                <a:solidFill>
                  <a:schemeClr val="tx1"/>
                </a:solidFill>
              </a:rPr>
              <a:t>Sales and Trading</a:t>
            </a:r>
            <a:br>
              <a:rPr lang="en-US" u="sng" dirty="0"/>
            </a:b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64833"/>
            <a:ext cx="9144000" cy="4766955"/>
          </a:xfrm>
          <a:solidFill>
            <a:schemeClr val="bg2"/>
          </a:solidFill>
        </p:spPr>
        <p:txBody>
          <a:bodyPr>
            <a:normAutofit fontScale="85000" lnSpcReduction="20000"/>
          </a:bodyPr>
          <a:lstStyle/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3100" dirty="0">
                <a:solidFill>
                  <a:schemeClr val="tx1"/>
                </a:solidFill>
              </a:rPr>
              <a:t> Trading desks primarily located in NY, London, Tokyo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altLang="en-US" sz="31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100" dirty="0">
                <a:solidFill>
                  <a:schemeClr val="tx1"/>
                </a:solidFill>
                <a:cs typeface="Arial" pitchFamily="34" charset="0"/>
              </a:rPr>
              <a:t> Sales roles in more regions than trading (Atlanta, Boston,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en-US" sz="3100" dirty="0">
                <a:solidFill>
                  <a:schemeClr val="tx1"/>
                </a:solidFill>
                <a:cs typeface="Arial" pitchFamily="34" charset="0"/>
              </a:rPr>
              <a:t>    Chicago, San Fran….)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altLang="en-US" sz="31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3100" dirty="0">
                <a:solidFill>
                  <a:schemeClr val="tx1"/>
                </a:solidFill>
              </a:rPr>
              <a:t> Hire more undergraduates, PHDs 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altLang="en-US" sz="31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3100" dirty="0">
                <a:solidFill>
                  <a:schemeClr val="tx1"/>
                </a:solidFill>
              </a:rPr>
              <a:t> Intensity rather than length of hours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altLang="en-US" sz="31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3100" dirty="0">
                <a:solidFill>
                  <a:schemeClr val="tx1"/>
                </a:solidFill>
              </a:rPr>
              <a:t> Growth in derivatives and fixed income; shrinkage in 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en-US" altLang="en-US" sz="3100" dirty="0">
                <a:solidFill>
                  <a:schemeClr val="tx1"/>
                </a:solidFill>
              </a:rPr>
              <a:t>     equities hiring (efficient market making)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3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781267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564833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>
            <a:normAutofit fontScale="90000"/>
          </a:bodyPr>
          <a:lstStyle/>
          <a:p>
            <a:br>
              <a:rPr lang="en-US" u="sng" dirty="0"/>
            </a:br>
            <a:br>
              <a:rPr lang="en-US" u="sng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u="sng" dirty="0">
                <a:solidFill>
                  <a:schemeClr val="tx1"/>
                </a:solidFill>
              </a:rPr>
              <a:t>Research at an Inv.  Bank (“Sell Side”)</a:t>
            </a:r>
            <a:br>
              <a:rPr lang="en-US" u="sng" dirty="0"/>
            </a:b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44601"/>
            <a:ext cx="9144000" cy="5087188"/>
          </a:xfrm>
          <a:solidFill>
            <a:schemeClr val="bg2"/>
          </a:solidFill>
        </p:spPr>
        <p:txBody>
          <a:bodyPr>
            <a:normAutofit fontScale="77500" lnSpcReduction="20000"/>
          </a:bodyPr>
          <a:lstStyle/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</a:rPr>
              <a:t> Primarily refers to “equity analysts”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altLang="en-US" sz="28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</a:rPr>
              <a:t> Equity analysts develop opinions on a company’s 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     strengths/weaknesses  (“buy”, “sell”, “hold”)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altLang="en-US" sz="28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</a:rPr>
              <a:t> Communicate primarily through research reports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altLang="en-US" sz="28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</a:rPr>
              <a:t> Must abide by ethical code of conduct called a “Chinese wall”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     (cannot communicate with investment bankers)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altLang="en-US" sz="28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</a:rPr>
              <a:t> Usually reside in global financial centers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altLang="en-US" sz="28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</a:rPr>
              <a:t> Hire undergraduates, some MBAs, who work for tenured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    analysts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altLang="en-US" sz="29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083231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37361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>
            <a:normAutofit fontScale="90000"/>
          </a:bodyPr>
          <a:lstStyle/>
          <a:p>
            <a:br>
              <a:rPr lang="en-US" u="sng" dirty="0"/>
            </a:br>
            <a:br>
              <a:rPr lang="en-US" u="sng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u="sng" dirty="0">
                <a:solidFill>
                  <a:schemeClr val="tx1"/>
                </a:solidFill>
              </a:rPr>
              <a:t>Private Wealth Management</a:t>
            </a:r>
            <a:br>
              <a:rPr lang="en-US" u="sng" dirty="0">
                <a:solidFill>
                  <a:schemeClr val="tx1"/>
                </a:solidFill>
              </a:rPr>
            </a:b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64833"/>
            <a:ext cx="9144000" cy="4766955"/>
          </a:xfrm>
          <a:solidFill>
            <a:schemeClr val="bg2"/>
          </a:solidFill>
        </p:spPr>
        <p:txBody>
          <a:bodyPr>
            <a:normAutofit fontScale="47500" lnSpcReduction="20000"/>
          </a:bodyPr>
          <a:lstStyle/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5100" dirty="0">
                <a:solidFill>
                  <a:schemeClr val="tx1"/>
                </a:solidFill>
              </a:rPr>
              <a:t>   </a:t>
            </a:r>
            <a:r>
              <a:rPr lang="en-US" sz="5100" dirty="0">
                <a:solidFill>
                  <a:schemeClr val="tx1"/>
                </a:solidFill>
                <a:cs typeface="Arial" pitchFamily="34" charset="0"/>
              </a:rPr>
              <a:t>Wealth managers provide investment advice to high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en-US" sz="5100" dirty="0">
                <a:solidFill>
                  <a:schemeClr val="tx1"/>
                </a:solidFill>
                <a:cs typeface="Arial" pitchFamily="34" charset="0"/>
              </a:rPr>
              <a:t>       net worth individuals (firms differ on client size)</a:t>
            </a:r>
            <a:endParaRPr lang="en-US" altLang="en-US" sz="5100" dirty="0">
              <a:solidFill>
                <a:schemeClr val="tx1"/>
              </a:solidFill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5100" dirty="0">
                <a:solidFill>
                  <a:schemeClr val="tx1"/>
                </a:solidFill>
              </a:rPr>
              <a:t>Area of growth for investment banks (low use of capital and low</a:t>
            </a:r>
          </a:p>
          <a:p>
            <a:pPr marL="384048" lvl="2" indent="0">
              <a:lnSpc>
                <a:spcPct val="150000"/>
              </a:lnSpc>
              <a:buNone/>
            </a:pPr>
            <a:r>
              <a:rPr lang="en-US" altLang="en-US" sz="5100" dirty="0">
                <a:solidFill>
                  <a:schemeClr val="tx1"/>
                </a:solidFill>
              </a:rPr>
              <a:t>    infrastructure cost)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5100" dirty="0">
                <a:solidFill>
                  <a:schemeClr val="tx1"/>
                </a:solidFill>
              </a:rPr>
              <a:t> Extension of banks’ existing business lines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5100" dirty="0">
                <a:solidFill>
                  <a:schemeClr val="tx1"/>
                </a:solidFill>
              </a:rPr>
              <a:t> Primarily bulge bracket/middle market banks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5100" dirty="0">
                <a:solidFill>
                  <a:schemeClr val="tx1"/>
                </a:solidFill>
              </a:rPr>
              <a:t> Locations in most major cities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5100" dirty="0">
                <a:solidFill>
                  <a:schemeClr val="tx1"/>
                </a:solidFill>
              </a:rPr>
              <a:t> Relationship, product, and support roles </a:t>
            </a:r>
          </a:p>
          <a:p>
            <a:pPr marL="384048" lvl="2" indent="0">
              <a:lnSpc>
                <a:spcPct val="100000"/>
              </a:lnSpc>
              <a:buNone/>
            </a:pPr>
            <a:endParaRPr lang="en-US" altLang="en-US" sz="2800" dirty="0"/>
          </a:p>
          <a:p>
            <a:pPr marL="201168" lvl="1" indent="0">
              <a:lnSpc>
                <a:spcPct val="100000"/>
              </a:lnSpc>
              <a:buNone/>
            </a:pPr>
            <a:r>
              <a:rPr lang="en-US" sz="3000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632451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37361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>
            <a:normAutofit fontScale="90000"/>
          </a:bodyPr>
          <a:lstStyle/>
          <a:p>
            <a:br>
              <a:rPr lang="en-US" u="sng" dirty="0"/>
            </a:br>
            <a:br>
              <a:rPr lang="en-US" u="sng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u="sng" dirty="0">
                <a:solidFill>
                  <a:schemeClr val="tx1"/>
                </a:solidFill>
              </a:rPr>
              <a:t>Private Wealth Management</a:t>
            </a:r>
            <a:br>
              <a:rPr lang="en-US" u="sng" dirty="0">
                <a:solidFill>
                  <a:schemeClr val="tx1"/>
                </a:solidFill>
              </a:rPr>
            </a:b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64833"/>
            <a:ext cx="9144000" cy="4766955"/>
          </a:xfrm>
          <a:solidFill>
            <a:schemeClr val="bg2"/>
          </a:solidFill>
        </p:spPr>
        <p:txBody>
          <a:bodyPr>
            <a:normAutofit fontScale="55000" lnSpcReduction="20000"/>
          </a:bodyPr>
          <a:lstStyle/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800" dirty="0">
                <a:solidFill>
                  <a:schemeClr val="tx1"/>
                </a:solidFill>
                <a:cs typeface="Arial" pitchFamily="34" charset="0"/>
              </a:rPr>
              <a:t>Facilitate clients financial planning (estates, trusts, tax 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en-US" sz="3800" dirty="0">
                <a:solidFill>
                  <a:schemeClr val="tx1"/>
                </a:solidFill>
                <a:cs typeface="Arial" pitchFamily="34" charset="0"/>
              </a:rPr>
              <a:t>     planning, annuities, etc…)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sz="3800" dirty="0">
              <a:solidFill>
                <a:schemeClr val="tx1"/>
              </a:solidFill>
              <a:cs typeface="Arial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800" dirty="0">
                <a:solidFill>
                  <a:schemeClr val="tx1"/>
                </a:solidFill>
                <a:cs typeface="Arial" pitchFamily="34" charset="0"/>
              </a:rPr>
              <a:t> Expected to deliver the “entire firm” to each client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3800" dirty="0">
              <a:solidFill>
                <a:schemeClr val="tx1"/>
              </a:solidFill>
              <a:cs typeface="Arial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800" dirty="0">
                <a:solidFill>
                  <a:schemeClr val="tx1"/>
                </a:solidFill>
                <a:cs typeface="Arial" pitchFamily="34" charset="0"/>
              </a:rPr>
              <a:t> Wealth managers have more flexibility in hours and 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en-US" sz="3800" dirty="0">
                <a:solidFill>
                  <a:schemeClr val="tx1"/>
                </a:solidFill>
                <a:cs typeface="Arial" pitchFamily="34" charset="0"/>
              </a:rPr>
              <a:t>     location over time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sz="3800" dirty="0">
              <a:solidFill>
                <a:schemeClr val="tx1"/>
              </a:solidFill>
              <a:cs typeface="Arial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800" dirty="0">
                <a:solidFill>
                  <a:schemeClr val="tx1"/>
                </a:solidFill>
                <a:cs typeface="Arial" pitchFamily="34" charset="0"/>
              </a:rPr>
              <a:t> Compensation is commission/performance based 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sz="3800" dirty="0">
              <a:solidFill>
                <a:schemeClr val="tx1"/>
              </a:solidFill>
              <a:cs typeface="Arial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3800" dirty="0">
                <a:solidFill>
                  <a:schemeClr val="tx1"/>
                </a:solidFill>
              </a:rPr>
              <a:t>Undergraduate opportunities (support team of wealth managers)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sz="3800" b="1" dirty="0">
              <a:solidFill>
                <a:schemeClr val="tx1"/>
              </a:solidFill>
              <a:cs typeface="Arial" pitchFamily="34" charset="0"/>
            </a:endParaRPr>
          </a:p>
          <a:p>
            <a:pPr marL="201168" lvl="1" indent="0">
              <a:lnSpc>
                <a:spcPct val="100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cs typeface="Arial" pitchFamily="34" charset="0"/>
              </a:rPr>
              <a:t>**PWM is not limited to Investment Banks (trust banks, family offices, other financial institutions)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3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954594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37361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u="sng" dirty="0">
                <a:solidFill>
                  <a:schemeClr val="tx1"/>
                </a:solidFill>
              </a:rPr>
              <a:t>Commercial Banks</a:t>
            </a:r>
            <a:br>
              <a:rPr lang="en-US" u="sng" dirty="0"/>
            </a:b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2028"/>
            <a:ext cx="9144000" cy="5020574"/>
          </a:xfrm>
          <a:solidFill>
            <a:schemeClr val="bg2"/>
          </a:solidFill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sz="3400" dirty="0">
                <a:solidFill>
                  <a:schemeClr val="tx1"/>
                </a:solidFill>
              </a:rPr>
              <a:t>Retail and Commercial banking divisions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4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tx1"/>
                </a:solidFill>
              </a:rPr>
              <a:t> Many have rotational programs for undergraduates</a:t>
            </a:r>
          </a:p>
          <a:p>
            <a:pPr marL="0" indent="0">
              <a:buNone/>
            </a:pPr>
            <a:endParaRPr lang="en-US" sz="34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tx1"/>
                </a:solidFill>
              </a:rPr>
              <a:t> Not all roles are quantitative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4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tx1"/>
                </a:solidFill>
              </a:rPr>
              <a:t> There are MANY functions to choose from-  new product </a:t>
            </a:r>
          </a:p>
          <a:p>
            <a:pPr marL="0" indent="0">
              <a:buNone/>
            </a:pPr>
            <a:r>
              <a:rPr lang="en-US" sz="3400" dirty="0">
                <a:solidFill>
                  <a:schemeClr val="tx1"/>
                </a:solidFill>
              </a:rPr>
              <a:t>     development, relationship  management, payments, card services, strategy,</a:t>
            </a:r>
          </a:p>
          <a:p>
            <a:pPr marL="0" indent="0">
              <a:buNone/>
            </a:pPr>
            <a:r>
              <a:rPr lang="en-US" sz="3400" dirty="0">
                <a:solidFill>
                  <a:schemeClr val="tx1"/>
                </a:solidFill>
              </a:rPr>
              <a:t>      risk management, corporate, HR….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4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tx1"/>
                </a:solidFill>
              </a:rPr>
              <a:t> Bank of America, Citi, Capital One, JPM Chase, TD Bank, Wells Fargo,  </a:t>
            </a:r>
          </a:p>
          <a:p>
            <a:pPr marL="0" indent="0">
              <a:buNone/>
            </a:pPr>
            <a:r>
              <a:rPr lang="en-US" sz="3400" dirty="0">
                <a:solidFill>
                  <a:schemeClr val="tx1"/>
                </a:solidFill>
              </a:rPr>
              <a:t>     M&amp;T….</a:t>
            </a:r>
          </a:p>
          <a:p>
            <a:pPr marL="0" indent="0">
              <a:buNone/>
            </a:pPr>
            <a:endParaRPr lang="en-US" sz="2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3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388052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37361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>
            <a:normAutofit fontScale="90000"/>
          </a:bodyPr>
          <a:lstStyle/>
          <a:p>
            <a:br>
              <a:rPr lang="en-US" u="sng" dirty="0"/>
            </a:br>
            <a:br>
              <a:rPr lang="en-US" u="sng" dirty="0"/>
            </a:br>
            <a:r>
              <a:rPr lang="en-US" dirty="0"/>
              <a:t>  </a:t>
            </a:r>
            <a:r>
              <a:rPr lang="en-US" u="sng" dirty="0">
                <a:solidFill>
                  <a:schemeClr val="tx1"/>
                </a:solidFill>
              </a:rPr>
              <a:t>Asset Management (“Buy Side”)</a:t>
            </a:r>
            <a:br>
              <a:rPr lang="en-US" u="sng" dirty="0"/>
            </a:b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64833"/>
            <a:ext cx="9144000" cy="4766955"/>
          </a:xfrm>
          <a:solidFill>
            <a:schemeClr val="bg2"/>
          </a:solidFill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tx1"/>
                </a:solidFill>
                <a:cs typeface="Arial" pitchFamily="34" charset="0"/>
              </a:rPr>
              <a:t> Usually known as “mutual funds” (example: Fidelity)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tx1"/>
                </a:solidFill>
                <a:cs typeface="Arial" pitchFamily="34" charset="0"/>
              </a:rPr>
              <a:t> Provides investment products for clients (individuals </a:t>
            </a:r>
          </a:p>
          <a:p>
            <a:pPr marL="201168" lvl="1" indent="0">
              <a:lnSpc>
                <a:spcPct val="150000"/>
              </a:lnSpc>
              <a:buNone/>
            </a:pPr>
            <a:r>
              <a:rPr lang="en-US" sz="3000" dirty="0">
                <a:solidFill>
                  <a:schemeClr val="tx1"/>
                </a:solidFill>
                <a:cs typeface="Arial" pitchFamily="34" charset="0"/>
              </a:rPr>
              <a:t>    and institutions)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tx1"/>
                </a:solidFill>
                <a:cs typeface="Arial" pitchFamily="34" charset="0"/>
              </a:rPr>
              <a:t> Entry level roles are usually in research, administration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tx1"/>
                </a:solidFill>
                <a:cs typeface="Arial" pitchFamily="34" charset="0"/>
              </a:rPr>
              <a:t> Research can evolve into portfolio management roles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tx1"/>
                </a:solidFill>
                <a:cs typeface="Arial" pitchFamily="34" charset="0"/>
              </a:rPr>
              <a:t> Compensation is performance based or salaried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3000" dirty="0">
              <a:cs typeface="Arial" pitchFamily="34" charset="0"/>
            </a:endParaRP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3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074442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37361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sz="4400" dirty="0"/>
              <a:t>  </a:t>
            </a:r>
            <a:r>
              <a:rPr lang="en-US" sz="4400" u="sng" dirty="0">
                <a:solidFill>
                  <a:schemeClr val="tx1"/>
                </a:solidFill>
              </a:rPr>
              <a:t>Hedge Funds</a:t>
            </a:r>
            <a:br>
              <a:rPr lang="en-US" u="sng" dirty="0"/>
            </a:b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09701"/>
            <a:ext cx="9144000" cy="4922088"/>
          </a:xfrm>
          <a:solidFill>
            <a:schemeClr val="bg2"/>
          </a:solidFill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cs typeface="Arial" pitchFamily="34" charset="0"/>
              </a:rPr>
              <a:t>An alternative investment vehicle that is made available to a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cs typeface="Arial" pitchFamily="34" charset="0"/>
              </a:rPr>
              <a:t>     limited range of investors. Regulation is limited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tx1"/>
              </a:solidFill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cs typeface="Arial" pitchFamily="34" charset="0"/>
              </a:rPr>
              <a:t> High risk / High return / usually leveraged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tx1"/>
              </a:solidFill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cs typeface="Arial" pitchFamily="34" charset="0"/>
              </a:rPr>
              <a:t> Wide variety of size and investment style</a:t>
            </a: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cs typeface="Arial" pitchFamily="34" charset="0"/>
              </a:rPr>
              <a:t> Manager is compensated either by fee or a percentage of gains, or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cs typeface="Arial" pitchFamily="34" charset="0"/>
              </a:rPr>
              <a:t>     both (example: 2% management fee and/or 15% share of profits)</a:t>
            </a: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Entry level roles are limited but might include trade reconciliation or analysis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3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221005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37361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  </a:t>
            </a:r>
            <a:r>
              <a:rPr lang="en-US" sz="4300" u="sng" dirty="0">
                <a:solidFill>
                  <a:schemeClr val="tx1"/>
                </a:solidFill>
              </a:rPr>
              <a:t>Private Equity</a:t>
            </a:r>
            <a:br>
              <a:rPr lang="en-US" u="sng" dirty="0"/>
            </a:b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81100"/>
            <a:ext cx="9144000" cy="5150689"/>
          </a:xfrm>
          <a:solidFill>
            <a:schemeClr val="bg2"/>
          </a:solidFill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cs typeface="Arial" pitchFamily="34" charset="0"/>
              </a:rPr>
              <a:t> Private equity funds take a management stake in a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cs typeface="Arial" pitchFamily="34" charset="0"/>
              </a:rPr>
              <a:t>     company with the goal of exiting at a profit over time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cs typeface="Arial" pitchFamily="34" charset="0"/>
              </a:rPr>
              <a:t> Early stage / Late Stage/ Growth Capital/ LBO/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cs typeface="Arial" pitchFamily="34" charset="0"/>
              </a:rPr>
              <a:t>    Distressed/ Mezzanine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cs typeface="Arial" pitchFamily="34" charset="0"/>
              </a:rPr>
              <a:t> Not considered liquid investments (expect 3-5yr exit)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cs typeface="Arial" pitchFamily="34" charset="0"/>
              </a:rPr>
              <a:t> Private equity stakeholders are impacted in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cs typeface="Arial" pitchFamily="34" charset="0"/>
              </a:rPr>
              <a:t>    a recession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cs typeface="Arial" pitchFamily="34" charset="0"/>
              </a:rPr>
              <a:t>Hard to enter out of college. Two years of banking preferred, and exit to business school expected after 2-3 years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300" dirty="0">
              <a:solidFill>
                <a:schemeClr val="tx1"/>
              </a:solidFill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3300" dirty="0">
              <a:solidFill>
                <a:schemeClr val="tx1"/>
              </a:solidFill>
              <a:cs typeface="Arial" pitchFamily="34" charset="0"/>
            </a:endParaRPr>
          </a:p>
          <a:p>
            <a:pPr marL="0" indent="0">
              <a:buNone/>
            </a:pPr>
            <a:endParaRPr lang="en-US" sz="3300" dirty="0">
              <a:solidFill>
                <a:schemeClr val="tx1"/>
              </a:solidFill>
              <a:cs typeface="Arial" pitchFamily="34" charset="0"/>
            </a:endParaRPr>
          </a:p>
          <a:p>
            <a:pPr marL="0" indent="0">
              <a:buNone/>
            </a:pPr>
            <a:endParaRPr lang="en-US" sz="3300" dirty="0">
              <a:solidFill>
                <a:schemeClr val="tx1"/>
              </a:solidFill>
              <a:cs typeface="Arial" pitchFamily="34" charset="0"/>
            </a:endParaRPr>
          </a:p>
          <a:p>
            <a:pPr marL="0" indent="0">
              <a:buNone/>
            </a:pPr>
            <a:endParaRPr lang="en-US" sz="3300" dirty="0">
              <a:solidFill>
                <a:schemeClr val="tx1"/>
              </a:solidFill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3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444920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37361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sz="4300" u="sng" dirty="0">
                <a:solidFill>
                  <a:schemeClr val="tx1"/>
                </a:solidFill>
              </a:rPr>
              <a:t>Venture Capital</a:t>
            </a:r>
            <a:br>
              <a:rPr lang="en-US" u="sng" dirty="0"/>
            </a:b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81100"/>
            <a:ext cx="9144000" cy="5150689"/>
          </a:xfrm>
          <a:solidFill>
            <a:schemeClr val="bg2"/>
          </a:solidFill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Venture capital funds provide funding for companies  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    needing to raise capital (early stage/ late stage VC)</a:t>
            </a:r>
          </a:p>
          <a:p>
            <a:pPr marL="0" indent="0">
              <a:buNone/>
            </a:pPr>
            <a:endParaRPr lang="en-US" sz="2200" dirty="0">
              <a:solidFill>
                <a:schemeClr val="tx1"/>
              </a:solidFill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 Venture capitalists fund and take an equity stake in an early-stage firm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 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 Some funds are specialized (ex: tech, health tech, med devices, energy)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 Exit strategy can take years – high risk/high return</a:t>
            </a:r>
          </a:p>
          <a:p>
            <a:pPr marL="0" indent="0">
              <a:buNone/>
            </a:pPr>
            <a:endParaRPr lang="en-US" sz="2200" dirty="0">
              <a:solidFill>
                <a:schemeClr val="tx1"/>
              </a:solidFill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 Early-stage firms can suffer in a recession</a:t>
            </a:r>
          </a:p>
          <a:p>
            <a:pPr marL="0" indent="0">
              <a:buNone/>
            </a:pPr>
            <a:endParaRPr lang="en-US" sz="2200" dirty="0">
              <a:solidFill>
                <a:schemeClr val="tx1"/>
              </a:solidFill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Experience working for start up companies can be good pre-requisite experience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tx1"/>
              </a:solidFill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tx1"/>
              </a:solidFill>
              <a:cs typeface="Arial" pitchFamily="34" charset="0"/>
            </a:endParaRP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tx1"/>
              </a:solidFill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3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595867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37361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  </a:t>
            </a:r>
            <a:r>
              <a:rPr lang="en-US" sz="4300" u="sng" dirty="0">
                <a:solidFill>
                  <a:schemeClr val="tx1"/>
                </a:solidFill>
              </a:rPr>
              <a:t>Insurance</a:t>
            </a:r>
            <a:br>
              <a:rPr lang="en-US" u="sng" dirty="0"/>
            </a:b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81100"/>
            <a:ext cx="9144000" cy="5150689"/>
          </a:xfrm>
          <a:solidFill>
            <a:schemeClr val="bg2"/>
          </a:solidFill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cs typeface="Arial" pitchFamily="34" charset="0"/>
              </a:rPr>
              <a:t> Many firms have general management programs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cs typeface="Arial" pitchFamily="34" charset="0"/>
              </a:rPr>
              <a:t> Roles can include many function - strategy, marketing,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cs typeface="Arial" pitchFamily="34" charset="0"/>
              </a:rPr>
              <a:t>     finance, risk and investing (as examples)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cs typeface="Arial" pitchFamily="34" charset="0"/>
              </a:rPr>
              <a:t>“Reinsurance” is insurance purchased by an insurance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cs typeface="Arial" pitchFamily="34" charset="0"/>
              </a:rPr>
              <a:t>     company to mitigate risk</a:t>
            </a:r>
          </a:p>
          <a:p>
            <a:pPr marL="0" indent="0">
              <a:buNone/>
            </a:pPr>
            <a:endParaRPr lang="en-US" sz="2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3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190237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37361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sz="4300" u="sng" dirty="0">
                <a:solidFill>
                  <a:schemeClr val="tx1"/>
                </a:solidFill>
              </a:rPr>
              <a:t>Corporate Finance (all companies have this)</a:t>
            </a:r>
            <a:br>
              <a:rPr lang="en-US" u="sng" dirty="0"/>
            </a:b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58900"/>
            <a:ext cx="9144000" cy="4972889"/>
          </a:xfrm>
          <a:solidFill>
            <a:schemeClr val="bg2"/>
          </a:solidFill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May be within the Treasury Division or the office of the CFO</a:t>
            </a: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Could be part of a general management or financial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     management rotational program</a:t>
            </a: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Might include financial accounting, modeling, risk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     management</a:t>
            </a: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Harder to define due to the numerous finance roles in any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     company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3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747276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37361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sz="4300" u="sng" dirty="0">
                <a:solidFill>
                  <a:schemeClr val="tx1"/>
                </a:solidFill>
              </a:rPr>
              <a:t>Who do they want?</a:t>
            </a:r>
            <a:br>
              <a:rPr lang="en-US" u="sng" dirty="0"/>
            </a:b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58900"/>
            <a:ext cx="9144000" cy="4972889"/>
          </a:xfrm>
          <a:solidFill>
            <a:schemeClr val="bg2"/>
          </a:solidFill>
        </p:spPr>
        <p:txBody>
          <a:bodyPr>
            <a:normAutofit/>
          </a:bodyPr>
          <a:lstStyle/>
          <a:p>
            <a:pPr>
              <a:lnSpc>
                <a:spcPct val="7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u="sng" dirty="0">
                <a:solidFill>
                  <a:schemeClr val="tx1"/>
                </a:solidFill>
              </a:rPr>
              <a:t>Not afraid of numbers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u="sng" dirty="0">
                <a:solidFill>
                  <a:schemeClr val="tx1"/>
                </a:solidFill>
              </a:rPr>
              <a:t>Leadership</a:t>
            </a:r>
            <a:r>
              <a:rPr lang="en-US" sz="2800" dirty="0">
                <a:solidFill>
                  <a:schemeClr val="tx1"/>
                </a:solidFill>
              </a:rPr>
              <a:t> a predictor of success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u="sng" dirty="0">
                <a:solidFill>
                  <a:schemeClr val="tx1"/>
                </a:solidFill>
              </a:rPr>
              <a:t>Takes initiative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u="sng" dirty="0">
                <a:solidFill>
                  <a:schemeClr val="tx1"/>
                </a:solidFill>
              </a:rPr>
              <a:t>Logical problem solver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u="sng" dirty="0">
                <a:solidFill>
                  <a:schemeClr val="tx1"/>
                </a:solidFill>
              </a:rPr>
              <a:t>Client facing skills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u="sng" dirty="0">
                <a:solidFill>
                  <a:schemeClr val="tx1"/>
                </a:solidFill>
              </a:rPr>
              <a:t>Emotional intelligence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u="sng" dirty="0">
                <a:solidFill>
                  <a:schemeClr val="tx1"/>
                </a:solidFill>
              </a:rPr>
              <a:t>Detail oriented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u="sng" dirty="0">
                <a:solidFill>
                  <a:schemeClr val="tx1"/>
                </a:solidFill>
              </a:rPr>
              <a:t>Inquisitive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u="sng" dirty="0">
                <a:solidFill>
                  <a:schemeClr val="tx1"/>
                </a:solidFill>
              </a:rPr>
              <a:t>Passion </a:t>
            </a:r>
            <a:r>
              <a:rPr lang="en-US" sz="2800" dirty="0">
                <a:solidFill>
                  <a:schemeClr val="tx1"/>
                </a:solidFill>
              </a:rPr>
              <a:t>for the role</a:t>
            </a:r>
            <a:endParaRPr lang="en-US" sz="2800" u="sng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3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736592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                                            </a:t>
            </a:r>
            <a:br>
              <a:rPr lang="en-US" sz="8800" dirty="0"/>
            </a:br>
            <a:br>
              <a:rPr lang="en-US" sz="8800" dirty="0"/>
            </a:br>
            <a:br>
              <a:rPr lang="en-US" sz="8800" b="1" dirty="0">
                <a:solidFill>
                  <a:srgbClr val="00B050"/>
                </a:solidFill>
              </a:rPr>
            </a:br>
            <a:r>
              <a:rPr lang="en-US" sz="8800" b="1" dirty="0">
                <a:solidFill>
                  <a:srgbClr val="00B050"/>
                </a:solidFill>
              </a:rPr>
              <a:t>            ???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93871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Tuck colo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67C3B"/>
      </a:accent1>
      <a:accent2>
        <a:srgbClr val="363530"/>
      </a:accent2>
      <a:accent3>
        <a:srgbClr val="0A2237"/>
      </a:accent3>
      <a:accent4>
        <a:srgbClr val="D84726"/>
      </a:accent4>
      <a:accent5>
        <a:srgbClr val="C00000"/>
      </a:accent5>
      <a:accent6>
        <a:srgbClr val="70AD47"/>
      </a:accent6>
      <a:hlink>
        <a:srgbClr val="FFC000"/>
      </a:hlink>
      <a:folHlink>
        <a:srgbClr val="0070C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5646</TotalTime>
  <Words>1385</Words>
  <Application>Microsoft Office PowerPoint</Application>
  <PresentationFormat>On-screen Show (4:3)</PresentationFormat>
  <Paragraphs>245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Calibri Light</vt:lpstr>
      <vt:lpstr>Trade Gothic LT Std</vt:lpstr>
      <vt:lpstr>Wingdings</vt:lpstr>
      <vt:lpstr>Wingdings 2</vt:lpstr>
      <vt:lpstr>Retrospect</vt:lpstr>
      <vt:lpstr>Finance Careers</vt:lpstr>
      <vt:lpstr>  Financial Services </vt:lpstr>
      <vt:lpstr>  Investment Bank </vt:lpstr>
      <vt:lpstr>    “Bulge Bracket” Investment Bank </vt:lpstr>
      <vt:lpstr>    “Middle Market” Investment Bank </vt:lpstr>
      <vt:lpstr>    “Boutique” </vt:lpstr>
      <vt:lpstr>    Investment Bankers </vt:lpstr>
      <vt:lpstr>    Sales and Trading </vt:lpstr>
      <vt:lpstr>    Sales and Trading </vt:lpstr>
      <vt:lpstr>    Research at an Inv.  Bank (“Sell Side”) </vt:lpstr>
      <vt:lpstr>    Private Wealth Management </vt:lpstr>
      <vt:lpstr>    Private Wealth Management </vt:lpstr>
      <vt:lpstr> Commercial Banks </vt:lpstr>
      <vt:lpstr>    Asset Management (“Buy Side”) </vt:lpstr>
      <vt:lpstr>  Hedge Funds </vt:lpstr>
      <vt:lpstr>  Private Equity </vt:lpstr>
      <vt:lpstr>  Venture Capital </vt:lpstr>
      <vt:lpstr>  Insurance </vt:lpstr>
      <vt:lpstr>  Corporate Finance (all companies have this) </vt:lpstr>
      <vt:lpstr>  Who do they want? </vt:lpstr>
      <vt:lpstr>                                                           ???</vt:lpstr>
    </vt:vector>
  </TitlesOfParts>
  <Company>The Tuck School at Dartmouth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Lorigo, Lori A.</dc:creator>
  <cp:lastModifiedBy>O'Donnell, Deirdre C.</cp:lastModifiedBy>
  <cp:revision>773</cp:revision>
  <cp:lastPrinted>2015-05-26T22:35:13Z</cp:lastPrinted>
  <dcterms:created xsi:type="dcterms:W3CDTF">2014-12-18T10:17:26Z</dcterms:created>
  <dcterms:modified xsi:type="dcterms:W3CDTF">2023-07-10T14:21:34Z</dcterms:modified>
</cp:coreProperties>
</file>