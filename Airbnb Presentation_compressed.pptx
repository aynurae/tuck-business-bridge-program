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57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492"/>
    <a:srgbClr val="FF9494"/>
    <a:srgbClr val="FF7277"/>
    <a:srgbClr val="FF6E73"/>
    <a:srgbClr val="FF5A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4A395-90E0-5C4E-988B-FFF2AC6942BE}" v="456" dt="2026-06-16T22:45:43.234"/>
    <p1510:client id="{2BE07702-B1D9-1C74-6D69-E7A686255643}" v="196" dt="2026-06-17T22:52:49.647"/>
    <p1510:client id="{31A81AE4-C584-572A-FDBA-E755E8153B39}" v="507" dt="2026-06-16T03:16:32.082"/>
    <p1510:client id="{4D9E8D3D-2AED-C67E-B9F7-8D6119D24C58}" v="557" dt="2026-06-16T23:13:05.555"/>
    <p1510:client id="{516CFBD0-F637-5D24-AE5B-BB45D67F367B}" v="175" dt="2026-06-16T22:41:38.640"/>
    <p1510:client id="{519BD33A-1B0E-843E-2407-DF4E7F53ED9A}" v="516" dt="2026-06-16T23:12:50.919"/>
    <p1510:client id="{54FEBED0-2846-18F1-7931-5C995247C5E1}" v="2525" dt="2026-06-17T22:52:11.705"/>
    <p1510:client id="{7C50067B-9769-849A-6E1F-0D57CE6D0E52}" v="14" dt="2026-06-16T22:58:37.119"/>
    <p1510:client id="{A316A324-5B23-1D53-34F5-098CC27D8DCF}" v="119" dt="2026-06-17T22:49:48.324"/>
    <p1510:client id="{AE1A093E-CE62-9E4E-7746-BA64EA68E594}" v="107" dt="2026-06-17T22:34:53.638"/>
    <p1510:client id="{B9AC8A37-D328-2F31-B83B-B3C6006979E3}" v="762" dt="2026-06-16T14:58:12.638"/>
    <p1510:client id="{C6724C8F-EE47-EF00-5775-4FD39A78358B}" v="1426" dt="2026-06-16T23:13:14.323"/>
    <p1510:client id="{CAADE7C7-19CA-BCDE-1542-F6A82F0E3629}" v="1082" dt="2026-06-17T22:52:46.138"/>
    <p1510:client id="{E09BD153-084B-1B2F-FA25-1B06EE46DF99}" v="62" dt="2026-06-17T21:58:57.454"/>
    <p1510:client id="{E2166141-8163-189B-F236-D5A5BB5F0A7A}" v="809" dt="2026-06-16T23:12:13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sv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people with luggage outside a cabin&#10;&#10;AI-generated content may be incorrect.">
            <a:extLst>
              <a:ext uri="{FF2B5EF4-FFF2-40B4-BE49-F238E27FC236}">
                <a16:creationId xmlns:a16="http://schemas.microsoft.com/office/drawing/2014/main" id="{0B37AC5D-81D9-D857-1B83-E8EE4FBF31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/>
                <a:ea typeface="Microsoft Sans Serif"/>
                <a:cs typeface="Microsoft Sans Serif"/>
              </a:rPr>
              <a:t>Airbnb Inc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/>
                <a:ea typeface="Microsoft Sans Serif"/>
                <a:cs typeface="Microsoft Sans Serif"/>
              </a:rPr>
              <a:t>Will, Tessie, Kipp, Thayer, Leo, Aynura</a:t>
            </a:r>
          </a:p>
        </p:txBody>
      </p:sp>
      <p:pic>
        <p:nvPicPr>
          <p:cNvPr id="7" name="Picture 6" descr="Airbnb Logo, symbol, meaning, history, Vector, PNG">
            <a:extLst>
              <a:ext uri="{FF2B5EF4-FFF2-40B4-BE49-F238E27FC236}">
                <a16:creationId xmlns:a16="http://schemas.microsoft.com/office/drawing/2014/main" id="{82534639-E9EB-4F02-393E-7524302CB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19" b="388"/>
          <a:stretch>
            <a:fillRect/>
          </a:stretch>
        </p:blipFill>
        <p:spPr>
          <a:xfrm>
            <a:off x="-237600" y="168713"/>
            <a:ext cx="2749215" cy="154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0A25B-0868-B3ED-1F2A-96A32449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127920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/>
              <a:t>Executive Summary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56740-16B4-00D5-3172-F6D2E8B8B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ptos Display"/>
              </a:rPr>
              <a:t>What is Airbnb?</a:t>
            </a:r>
          </a:p>
          <a:p>
            <a:endParaRPr lang="en-US">
              <a:latin typeface="Aptos Display"/>
            </a:endParaRPr>
          </a:p>
          <a:p>
            <a:r>
              <a:rPr lang="en-US">
                <a:latin typeface="Aptos Display"/>
              </a:rPr>
              <a:t>Economics</a:t>
            </a:r>
          </a:p>
          <a:p>
            <a:endParaRPr lang="en-US">
              <a:latin typeface="Aptos Display"/>
            </a:endParaRPr>
          </a:p>
          <a:p>
            <a:r>
              <a:rPr lang="en-US">
                <a:latin typeface="Aptos Display"/>
              </a:rPr>
              <a:t>Marketing</a:t>
            </a:r>
          </a:p>
          <a:p>
            <a:endParaRPr lang="en-US">
              <a:latin typeface="Aptos Display"/>
            </a:endParaRPr>
          </a:p>
          <a:p>
            <a:r>
              <a:rPr lang="en-US">
                <a:latin typeface="Aptos Display"/>
              </a:rPr>
              <a:t>Strategy</a:t>
            </a:r>
          </a:p>
        </p:txBody>
      </p:sp>
      <p:pic>
        <p:nvPicPr>
          <p:cNvPr id="6" name="Picture 5" descr="A person and child sitting on a bed looking at a book&#10;&#10;AI-generated content may be incorrect.">
            <a:extLst>
              <a:ext uri="{FF2B5EF4-FFF2-40B4-BE49-F238E27FC236}">
                <a16:creationId xmlns:a16="http://schemas.microsoft.com/office/drawing/2014/main" id="{8ACDE7B1-1035-E07F-A3C0-C72A7AA53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98" r="22542" b="-1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pic>
        <p:nvPicPr>
          <p:cNvPr id="8" name="Picture 7" descr="A logo on a pink background&#10;&#10;AI-generated content may be incorrect.">
            <a:extLst>
              <a:ext uri="{FF2B5EF4-FFF2-40B4-BE49-F238E27FC236}">
                <a16:creationId xmlns:a16="http://schemas.microsoft.com/office/drawing/2014/main" id="{AFF23B4B-C3FC-E756-F192-9B63D56003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45" t="12498" r="8805" b="9648"/>
          <a:stretch>
            <a:fillRect/>
          </a:stretch>
        </p:blipFill>
        <p:spPr>
          <a:xfrm>
            <a:off x="412636" y="837"/>
            <a:ext cx="1099434" cy="152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12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he Top Trends Fueling Airbnb Travelers' Wanderlust">
            <a:extLst>
              <a:ext uri="{FF2B5EF4-FFF2-40B4-BE49-F238E27FC236}">
                <a16:creationId xmlns:a16="http://schemas.microsoft.com/office/drawing/2014/main" id="{B4CB7D5A-9DD4-5524-55CC-9249167E3C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00FC22-9A52-A662-0BB8-09D5C8DF2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en-US" sz="8000">
                <a:ln w="22225">
                  <a:solidFill>
                    <a:srgbClr val="FFFFFF"/>
                  </a:solidFill>
                </a:ln>
                <a:noFill/>
              </a:rPr>
              <a:t>Airbnb Analysis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5FE3D-F3CD-6581-523E-54CD3F1B1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085" y="303862"/>
            <a:ext cx="3860002" cy="647605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>
                <a:solidFill>
                  <a:srgbClr val="FFFFFF"/>
                </a:solidFill>
              </a:rPr>
              <a:t>Airbnb is an online marketplace that connects property owners (labelled as "hosts" in its app), with travelers seeking short-term accommodations, typically for vacation.</a:t>
            </a:r>
          </a:p>
          <a:p>
            <a:r>
              <a:rPr lang="en-US" sz="1800">
                <a:solidFill>
                  <a:srgbClr val="FFFFFF"/>
                </a:solidFill>
              </a:rPr>
              <a:t>Instead of booking a traditional hotel or hostel, guests can book spaces directly from locals, delivering an experience similar to how locals in the area live.</a:t>
            </a:r>
          </a:p>
          <a:p>
            <a:r>
              <a:rPr lang="en-US" sz="1800">
                <a:solidFill>
                  <a:srgbClr val="FFFFFF"/>
                </a:solidFill>
              </a:rPr>
              <a:t>Airbnb operates as a two-sided digital marketplace, generating revenue primarily through charging commission fees on completed bookings.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FFFFFF"/>
                </a:solidFill>
              </a:rPr>
              <a:t>Guest service fees –14%-16.5%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FFFFFF"/>
                </a:solidFill>
              </a:rPr>
              <a:t>Host service fees – 3%</a:t>
            </a:r>
          </a:p>
        </p:txBody>
      </p:sp>
      <p:pic>
        <p:nvPicPr>
          <p:cNvPr id="5" name="Picture 4" descr="A logo on a pink background&#10;&#10;AI-generated content may be incorrect.">
            <a:extLst>
              <a:ext uri="{FF2B5EF4-FFF2-40B4-BE49-F238E27FC236}">
                <a16:creationId xmlns:a16="http://schemas.microsoft.com/office/drawing/2014/main" id="{9C2993CA-6EC0-BF59-E533-6A310DE05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45" t="12498" r="8805" b="9648"/>
          <a:stretch>
            <a:fillRect/>
          </a:stretch>
        </p:blipFill>
        <p:spPr>
          <a:xfrm>
            <a:off x="412636" y="837"/>
            <a:ext cx="1099434" cy="152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00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18597-6804-0E81-2864-80CA9A597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7544" y="1196"/>
            <a:ext cx="2749828" cy="1325563"/>
          </a:xfrm>
        </p:spPr>
        <p:txBody>
          <a:bodyPr>
            <a:normAutofit/>
          </a:bodyPr>
          <a:lstStyle/>
          <a:p>
            <a:r>
              <a:rPr lang="en-US"/>
              <a:t>Economics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1FE6D-0AF2-B3DB-8BFE-80C8D46269A2}"/>
              </a:ext>
            </a:extLst>
          </p:cNvPr>
          <p:cNvSpPr txBox="1"/>
          <p:nvPr/>
        </p:nvSpPr>
        <p:spPr>
          <a:xfrm>
            <a:off x="9153592" y="2193775"/>
            <a:ext cx="257261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latin typeface="Aptos Display"/>
              </a:rPr>
              <a:t>More demand for travel -&gt;  13% in 2026 and 12% in 2027 </a:t>
            </a:r>
            <a:r>
              <a:rPr lang="en-US" i="1">
                <a:latin typeface="Aptos Display"/>
                <a:ea typeface="+mn-lt"/>
                <a:cs typeface="+mn-lt"/>
              </a:rPr>
              <a:t>↑</a:t>
            </a:r>
          </a:p>
          <a:p>
            <a:endParaRPr lang="en-US" i="1" dirty="0">
              <a:latin typeface="Aptos Display"/>
            </a:endParaRPr>
          </a:p>
          <a:p>
            <a:r>
              <a:rPr lang="en-US" i="1">
                <a:latin typeface="Aptos Display"/>
              </a:rPr>
              <a:t>Experience economy: booking support for users </a:t>
            </a:r>
            <a:r>
              <a:rPr lang="en-US" i="1">
                <a:latin typeface="Aptos Display"/>
                <a:ea typeface="+mn-lt"/>
                <a:cs typeface="+mn-lt"/>
              </a:rPr>
              <a:t>↑</a:t>
            </a:r>
            <a:endParaRPr lang="en-US" i="1">
              <a:latin typeface="Aptos Display"/>
            </a:endParaRPr>
          </a:p>
          <a:p>
            <a:r>
              <a:rPr lang="en-US" i="1" dirty="0">
                <a:latin typeface="Aptos Display"/>
              </a:rPr>
              <a:t>Cities are making rules to </a:t>
            </a:r>
            <a:r>
              <a:rPr lang="en-US" i="1">
                <a:latin typeface="Aptos Display"/>
              </a:rPr>
              <a:t>shorten rentals </a:t>
            </a:r>
            <a:r>
              <a:rPr lang="en-US">
                <a:ea typeface="+mn-lt"/>
                <a:cs typeface="+mn-lt"/>
              </a:rPr>
              <a:t>↓</a:t>
            </a:r>
            <a:endParaRPr lang="en-US" i="1">
              <a:latin typeface="Aptos Display"/>
              <a:ea typeface="+mn-lt"/>
              <a:cs typeface="+mn-lt"/>
            </a:endParaRPr>
          </a:p>
        </p:txBody>
      </p:sp>
      <p:pic>
        <p:nvPicPr>
          <p:cNvPr id="5" name="Picture 4" descr="A logo on a pink background&#10;&#10;AI-generated content may be incorrect.">
            <a:extLst>
              <a:ext uri="{FF2B5EF4-FFF2-40B4-BE49-F238E27FC236}">
                <a16:creationId xmlns:a16="http://schemas.microsoft.com/office/drawing/2014/main" id="{3521BCEB-CD1A-3153-0997-A93A3FE7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5" t="12498" r="8805" b="9648"/>
          <a:stretch>
            <a:fillRect/>
          </a:stretch>
        </p:blipFill>
        <p:spPr>
          <a:xfrm>
            <a:off x="412636" y="837"/>
            <a:ext cx="1099434" cy="152260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E3C71F-BE14-DAA5-D268-D31440D6B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503823"/>
              </p:ext>
            </p:extLst>
          </p:nvPr>
        </p:nvGraphicFramePr>
        <p:xfrm>
          <a:off x="415119" y="1859507"/>
          <a:ext cx="8168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702460831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278792095"/>
                    </a:ext>
                  </a:extLst>
                </a:gridCol>
              </a:tblGrid>
              <a:tr h="19971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Account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Value (In Millions of Dollars – 2025)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28903"/>
                  </a:ext>
                </a:extLst>
              </a:tr>
              <a:tr h="199717">
                <a:tc>
                  <a:txBody>
                    <a:bodyPr/>
                    <a:lstStyle/>
                    <a:p>
                      <a:r>
                        <a:rPr lang="en-US"/>
                        <a:t>Revenue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12,241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683446"/>
                  </a:ext>
                </a:extLst>
              </a:tr>
              <a:tr h="1997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Cost of Revenue (COGS)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2,086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3997"/>
                  </a:ext>
                </a:extLst>
              </a:tr>
              <a:tr h="199717">
                <a:tc>
                  <a:txBody>
                    <a:bodyPr/>
                    <a:lstStyle/>
                    <a:p>
                      <a:r>
                        <a:rPr lang="en-US"/>
                        <a:t>Capital Expenditures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385456"/>
                  </a:ext>
                </a:extLst>
              </a:tr>
              <a:tr h="199717">
                <a:tc>
                  <a:txBody>
                    <a:bodyPr/>
                    <a:lstStyle/>
                    <a:p>
                      <a:r>
                        <a:rPr lang="en-US"/>
                        <a:t>Net Working Capital 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331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965461"/>
                  </a:ext>
                </a:extLst>
              </a:tr>
              <a:tr h="1997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SG&amp;A (Selling General &amp; </a:t>
                      </a:r>
                      <a:r>
                        <a:rPr lang="en-US"/>
                        <a:t>Administrative)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1,234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06012"/>
                  </a:ext>
                </a:extLst>
              </a:tr>
              <a:tr h="19971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latin typeface="Aptos"/>
                        </a:rPr>
                        <a:t>Expens</a:t>
                      </a:r>
                      <a:r>
                        <a:rPr lang="en-US" sz="1800" b="0" i="0" u="none" strike="noStrike" noProof="0">
                          <a:latin typeface="Aptos"/>
                        </a:rPr>
                        <a:t>es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6,269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81413"/>
                  </a:ext>
                </a:extLst>
              </a:tr>
              <a:tr h="199717">
                <a:tc>
                  <a:txBody>
                    <a:bodyPr/>
                    <a:lstStyle/>
                    <a:p>
                      <a:r>
                        <a:rPr lang="en-US"/>
                        <a:t>Profit Margin (%)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20.5%</a:t>
                      </a:r>
                    </a:p>
                  </a:txBody>
                  <a:tcPr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332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33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B840-CE57-9B9E-EC9F-7A2C138D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9C04-0171-CB57-3C91-7E97281D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268" y="52101"/>
            <a:ext cx="2412661" cy="1339049"/>
          </a:xfrm>
        </p:spPr>
        <p:txBody>
          <a:bodyPr>
            <a:normAutofit/>
          </a:bodyPr>
          <a:lstStyle/>
          <a:p>
            <a:r>
              <a:rPr lang="en-US"/>
              <a:t>Marketing</a:t>
            </a:r>
          </a:p>
        </p:txBody>
      </p:sp>
      <p:pic>
        <p:nvPicPr>
          <p:cNvPr id="9" name="Picture 8" descr="A logo on a pink background&#10;&#10;AI-generated content may be incorrect.">
            <a:extLst>
              <a:ext uri="{FF2B5EF4-FFF2-40B4-BE49-F238E27FC236}">
                <a16:creationId xmlns:a16="http://schemas.microsoft.com/office/drawing/2014/main" id="{CEEEE8EF-327F-4310-D6E2-FE3B0A8E8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5" t="12498" r="8805" b="9648"/>
          <a:stretch>
            <a:fillRect/>
          </a:stretch>
        </p:blipFill>
        <p:spPr>
          <a:xfrm>
            <a:off x="412636" y="837"/>
            <a:ext cx="1099434" cy="1522604"/>
          </a:xfrm>
          <a:prstGeom prst="rect">
            <a:avLst/>
          </a:prstGeom>
        </p:spPr>
      </p:pic>
      <p:pic>
        <p:nvPicPr>
          <p:cNvPr id="43" name="Graphic 42" descr="Neutral face outline outline">
            <a:extLst>
              <a:ext uri="{FF2B5EF4-FFF2-40B4-BE49-F238E27FC236}">
                <a16:creationId xmlns:a16="http://schemas.microsoft.com/office/drawing/2014/main" id="{67188D95-4402-0ABE-4087-A61DD21D4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7761" y="941029"/>
            <a:ext cx="754912" cy="754912"/>
          </a:xfrm>
          <a:prstGeom prst="rect">
            <a:avLst/>
          </a:prstGeom>
        </p:spPr>
      </p:pic>
      <p:pic>
        <p:nvPicPr>
          <p:cNvPr id="44" name="Graphic 43" descr="Smiling face outline outline">
            <a:extLst>
              <a:ext uri="{FF2B5EF4-FFF2-40B4-BE49-F238E27FC236}">
                <a16:creationId xmlns:a16="http://schemas.microsoft.com/office/drawing/2014/main" id="{F4B33AF2-8402-13BF-2D3F-E77572EEEF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54437" y="966125"/>
            <a:ext cx="754912" cy="754912"/>
          </a:xfrm>
          <a:prstGeom prst="rect">
            <a:avLst/>
          </a:prstGeom>
        </p:spPr>
      </p:pic>
      <p:pic>
        <p:nvPicPr>
          <p:cNvPr id="45" name="Graphic 44" descr="Sad face outline with solid fill">
            <a:extLst>
              <a:ext uri="{FF2B5EF4-FFF2-40B4-BE49-F238E27FC236}">
                <a16:creationId xmlns:a16="http://schemas.microsoft.com/office/drawing/2014/main" id="{D6064407-A946-0B17-EE1B-3D0DECA4F1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06808" y="937188"/>
            <a:ext cx="754912" cy="754912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6F74969-046D-BCD0-93A2-8D04B53D2E9E}"/>
              </a:ext>
            </a:extLst>
          </p:cNvPr>
          <p:cNvCxnSpPr/>
          <p:nvPr/>
        </p:nvCxnSpPr>
        <p:spPr>
          <a:xfrm>
            <a:off x="8189189" y="1317759"/>
            <a:ext cx="756479" cy="1"/>
          </a:xfrm>
          <a:prstGeom prst="straightConnector1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7FDF2F4-F412-6B20-48AC-582C51B698D6}"/>
              </a:ext>
            </a:extLst>
          </p:cNvPr>
          <p:cNvCxnSpPr>
            <a:cxnSpLocks/>
          </p:cNvCxnSpPr>
          <p:nvPr/>
        </p:nvCxnSpPr>
        <p:spPr>
          <a:xfrm flipV="1">
            <a:off x="9553700" y="1300038"/>
            <a:ext cx="685596" cy="4429"/>
          </a:xfrm>
          <a:prstGeom prst="straightConnector1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181F65-A537-3521-EBA2-50EFAA4F3BE6}"/>
              </a:ext>
            </a:extLst>
          </p:cNvPr>
          <p:cNvCxnSpPr>
            <a:cxnSpLocks/>
          </p:cNvCxnSpPr>
          <p:nvPr/>
        </p:nvCxnSpPr>
        <p:spPr>
          <a:xfrm>
            <a:off x="1161271" y="2666171"/>
            <a:ext cx="4003973" cy="469"/>
          </a:xfrm>
          <a:prstGeom prst="straightConnector1">
            <a:avLst/>
          </a:prstGeom>
          <a:ln>
            <a:solidFill>
              <a:srgbClr val="FF94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3E0AD3-52D9-AEF2-0B8A-E8C98EC23829}"/>
              </a:ext>
            </a:extLst>
          </p:cNvPr>
          <p:cNvCxnSpPr>
            <a:cxnSpLocks/>
          </p:cNvCxnSpPr>
          <p:nvPr/>
        </p:nvCxnSpPr>
        <p:spPr>
          <a:xfrm flipV="1">
            <a:off x="3119726" y="1562762"/>
            <a:ext cx="19995" cy="2208772"/>
          </a:xfrm>
          <a:prstGeom prst="straightConnector1">
            <a:avLst/>
          </a:prstGeom>
          <a:ln>
            <a:solidFill>
              <a:srgbClr val="FF94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3727CC7-3FB1-ABA9-5F30-C96DECC7A177}"/>
              </a:ext>
            </a:extLst>
          </p:cNvPr>
          <p:cNvSpPr txBox="1"/>
          <p:nvPr/>
        </p:nvSpPr>
        <p:spPr>
          <a:xfrm>
            <a:off x="5161845" y="2345330"/>
            <a:ext cx="1461054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Broad Offerings</a:t>
            </a:r>
          </a:p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F0CCC8-5C7E-3DD1-4A95-9D3EE127B349}"/>
              </a:ext>
            </a:extLst>
          </p:cNvPr>
          <p:cNvSpPr txBox="1"/>
          <p:nvPr/>
        </p:nvSpPr>
        <p:spPr>
          <a:xfrm>
            <a:off x="1965994" y="1162524"/>
            <a:ext cx="3121530" cy="64633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High Local Immersion </a:t>
            </a:r>
          </a:p>
          <a:p>
            <a:endParaRPr lang="en-US"/>
          </a:p>
        </p:txBody>
      </p:sp>
      <p:pic>
        <p:nvPicPr>
          <p:cNvPr id="30" name="Graphic 29" descr="Checkmark with solid fill">
            <a:extLst>
              <a:ext uri="{FF2B5EF4-FFF2-40B4-BE49-F238E27FC236}">
                <a16:creationId xmlns:a16="http://schemas.microsoft.com/office/drawing/2014/main" id="{8552A980-5F99-C9B1-FD84-4AAD61D419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5636" y="946933"/>
            <a:ext cx="447040" cy="453390"/>
          </a:xfrm>
          <a:prstGeom prst="rect">
            <a:avLst/>
          </a:prstGeom>
        </p:spPr>
      </p:pic>
      <p:pic>
        <p:nvPicPr>
          <p:cNvPr id="31" name="Picture 30" descr="Airbnb Logo - LogoDix">
            <a:extLst>
              <a:ext uri="{FF2B5EF4-FFF2-40B4-BE49-F238E27FC236}">
                <a16:creationId xmlns:a16="http://schemas.microsoft.com/office/drawing/2014/main" id="{F881A578-BF0D-B443-0997-750C186553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266" t="1902" r="27578" b="495"/>
          <a:stretch>
            <a:fillRect/>
          </a:stretch>
        </p:blipFill>
        <p:spPr>
          <a:xfrm>
            <a:off x="3249419" y="1587394"/>
            <a:ext cx="409148" cy="445879"/>
          </a:xfrm>
          <a:prstGeom prst="rect">
            <a:avLst/>
          </a:prstGeom>
        </p:spPr>
      </p:pic>
      <p:pic>
        <p:nvPicPr>
          <p:cNvPr id="32" name="Picture 31" descr="Booking.Com Logo, symbol, meaning, history, PNG, brand">
            <a:extLst>
              <a:ext uri="{FF2B5EF4-FFF2-40B4-BE49-F238E27FC236}">
                <a16:creationId xmlns:a16="http://schemas.microsoft.com/office/drawing/2014/main" id="{D237FD26-D4DA-0CB3-D6F1-86999079FC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8315" y="2968662"/>
            <a:ext cx="781487" cy="441872"/>
          </a:xfrm>
          <a:prstGeom prst="rect">
            <a:avLst/>
          </a:prstGeom>
        </p:spPr>
      </p:pic>
      <p:pic>
        <p:nvPicPr>
          <p:cNvPr id="33" name="Picture 32" descr="EXPEDIA SUMMER TRAVEL FORECAST: FLIGHT SEARCHES UP 25%, INTEREST ...">
            <a:extLst>
              <a:ext uri="{FF2B5EF4-FFF2-40B4-BE49-F238E27FC236}">
                <a16:creationId xmlns:a16="http://schemas.microsoft.com/office/drawing/2014/main" id="{26978D85-E9E0-4748-ED8B-BB4F01CF06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0898" y="3455452"/>
            <a:ext cx="841262" cy="1467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7F898BE-C337-FE7D-D091-4E999211FA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5411" y="1715013"/>
            <a:ext cx="3892444" cy="2581837"/>
          </a:xfrm>
          <a:prstGeom prst="rect">
            <a:avLst/>
          </a:prstGeom>
        </p:spPr>
      </p:pic>
      <p:pic>
        <p:nvPicPr>
          <p:cNvPr id="34" name="Picture 33" descr="Tripadvisor Reviews | Read Customer Service Reviews of www.tripadvisor.com">
            <a:extLst>
              <a:ext uri="{FF2B5EF4-FFF2-40B4-BE49-F238E27FC236}">
                <a16:creationId xmlns:a16="http://schemas.microsoft.com/office/drawing/2014/main" id="{75CC5F12-FC13-4284-77DF-C4A150FDBF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8280" y="2428064"/>
            <a:ext cx="485635" cy="585915"/>
          </a:xfrm>
          <a:prstGeom prst="rect">
            <a:avLst/>
          </a:prstGeom>
        </p:spPr>
      </p:pic>
      <p:pic>
        <p:nvPicPr>
          <p:cNvPr id="35" name="Picture 34" descr="Vrbo Review: The better Airbnb, or not really? | FlightDeck">
            <a:extLst>
              <a:ext uri="{FF2B5EF4-FFF2-40B4-BE49-F238E27FC236}">
                <a16:creationId xmlns:a16="http://schemas.microsoft.com/office/drawing/2014/main" id="{8BBDDAF8-1EAF-770D-4C18-F8352A0C27E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57734" y="2173406"/>
            <a:ext cx="441278" cy="481084"/>
          </a:xfrm>
          <a:prstGeom prst="rect">
            <a:avLst/>
          </a:prstGeom>
        </p:spPr>
      </p:pic>
      <p:pic>
        <p:nvPicPr>
          <p:cNvPr id="5" name="Picture 4" descr="Flatio.com Reviews | Read Customer Service Reviews of flatio.com">
            <a:extLst>
              <a:ext uri="{FF2B5EF4-FFF2-40B4-BE49-F238E27FC236}">
                <a16:creationId xmlns:a16="http://schemas.microsoft.com/office/drawing/2014/main" id="{04E2EA40-09C3-D6AA-23F0-7F4464D6E1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7952" y="1639577"/>
            <a:ext cx="798395" cy="3829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51256C-48B4-474E-B5E8-CEEF7E45D8E7}"/>
              </a:ext>
            </a:extLst>
          </p:cNvPr>
          <p:cNvSpPr txBox="1"/>
          <p:nvPr/>
        </p:nvSpPr>
        <p:spPr>
          <a:xfrm>
            <a:off x="417870" y="4090849"/>
            <a:ext cx="9342365" cy="2129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Brand Equity:  Strong brand recognition, high trust and reputation.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Loyalty: First look but consumers will follow lower prices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Awareness: Rental called "</a:t>
            </a:r>
            <a:r>
              <a:rPr lang="en-US" err="1"/>
              <a:t>Airbnbs</a:t>
            </a:r>
            <a:r>
              <a:rPr lang="en-US"/>
              <a:t>" - genericization.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Perceived Value: More expensive, more options, worth the price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Associations: "experiences", trust, reliability, safety </a:t>
            </a:r>
          </a:p>
        </p:txBody>
      </p:sp>
    </p:spTree>
    <p:extLst>
      <p:ext uri="{BB962C8B-B14F-4D97-AF65-F5344CB8AC3E}">
        <p14:creationId xmlns:p14="http://schemas.microsoft.com/office/powerpoint/2010/main" val="4503610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D3A70-6E0B-3D96-3352-77661AC9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C069FCC9-D913-057F-CD49-1C5E91D7F0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3630817"/>
              </p:ext>
            </p:extLst>
          </p:nvPr>
        </p:nvGraphicFramePr>
        <p:xfrm>
          <a:off x="222530" y="1604920"/>
          <a:ext cx="11760662" cy="54207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1253">
                  <a:extLst>
                    <a:ext uri="{9D8B030D-6E8A-4147-A177-3AD203B41FA5}">
                      <a16:colId xmlns:a16="http://schemas.microsoft.com/office/drawing/2014/main" val="527977381"/>
                    </a:ext>
                  </a:extLst>
                </a:gridCol>
                <a:gridCol w="6264518">
                  <a:extLst>
                    <a:ext uri="{9D8B030D-6E8A-4147-A177-3AD203B41FA5}">
                      <a16:colId xmlns:a16="http://schemas.microsoft.com/office/drawing/2014/main" val="4114309779"/>
                    </a:ext>
                  </a:extLst>
                </a:gridCol>
                <a:gridCol w="3994891">
                  <a:extLst>
                    <a:ext uri="{9D8B030D-6E8A-4147-A177-3AD203B41FA5}">
                      <a16:colId xmlns:a16="http://schemas.microsoft.com/office/drawing/2014/main" val="2804505997"/>
                    </a:ext>
                  </a:extLst>
                </a:gridCol>
              </a:tblGrid>
              <a:tr h="397564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63"/>
                        </a:lnSpc>
                        <a:buNone/>
                      </a:pPr>
                      <a:endParaRPr lang="en-US" sz="1400" b="1" i="0" u="none" strike="noStrike">
                        <a:solidFill>
                          <a:srgbClr val="110E24"/>
                        </a:solidFill>
                        <a:effectLst/>
                        <a:latin typeface="Aptos Display"/>
                      </a:endParaRPr>
                    </a:p>
                    <a:p>
                      <a:pPr marL="0" marR="0" lvl="0" indent="0" algn="ctr">
                        <a:lnSpc>
                          <a:spcPts val="863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110E24"/>
                          </a:solidFill>
                          <a:effectLst/>
                          <a:latin typeface="Aptos Display"/>
                        </a:rPr>
                        <a:t>Driver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63"/>
                        </a:lnSpc>
                        <a:buNone/>
                      </a:pPr>
                      <a:endParaRPr lang="en-US" sz="1400" b="1" i="0" u="none" strike="noStrike">
                        <a:solidFill>
                          <a:srgbClr val="110E24"/>
                        </a:solidFill>
                        <a:effectLst/>
                        <a:latin typeface="Aptos Display"/>
                      </a:endParaRPr>
                    </a:p>
                    <a:p>
                      <a:pPr marL="0" marR="0" lvl="0" indent="0" algn="ctr">
                        <a:lnSpc>
                          <a:spcPts val="863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110E24"/>
                          </a:solidFill>
                          <a:effectLst/>
                          <a:latin typeface="Aptos Display"/>
                        </a:rPr>
                        <a:t>Cost (supply)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63"/>
                        </a:lnSpc>
                        <a:buNone/>
                      </a:pPr>
                      <a:endParaRPr lang="en-US" sz="1400" b="1" i="0" u="none" strike="noStrike">
                        <a:solidFill>
                          <a:srgbClr val="110E24"/>
                        </a:solidFill>
                        <a:effectLst/>
                        <a:latin typeface="Aptos Display"/>
                      </a:endParaRPr>
                    </a:p>
                    <a:p>
                      <a:pPr marL="0" marR="0" lvl="0" indent="0" algn="ctr">
                        <a:lnSpc>
                          <a:spcPts val="863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110E24"/>
                          </a:solidFill>
                          <a:effectLst/>
                          <a:latin typeface="Aptos Display"/>
                        </a:rPr>
                        <a:t>WTP (demand)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22664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63"/>
                        </a:lnSpc>
                        <a:buNone/>
                      </a:pPr>
                      <a:endParaRPr lang="en-US" sz="1400" b="0" i="0" u="none" strike="noStrike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Political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rtl="0" fontAlgn="base">
                        <a:lnSpc>
                          <a:spcPts val="863"/>
                        </a:lnSpc>
                        <a:buFont typeface="Calibri"/>
                        <a:buChar char="-"/>
                      </a:pPr>
                      <a:endParaRPr lang="en-US" sz="1400"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r>
                        <a:rPr lang="en-US" sz="1400">
                          <a:latin typeface="Aptos Display"/>
                        </a:rPr>
                        <a:t>Government restrictions (zoning laws) that will affect Airbnb's operations &amp; growth</a:t>
                      </a:r>
                      <a:endParaRPr lang="en-US">
                        <a:latin typeface="Aptos Display"/>
                      </a:endParaRP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t">
                        <a:buFont typeface="Calibri"/>
                        <a:buChar char="-"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ptos Display"/>
                        </a:rPr>
                        <a:t>Tourism-promoting government policies </a:t>
                      </a:r>
                      <a:endParaRPr lang="en-US"/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078210"/>
                  </a:ext>
                </a:extLst>
              </a:tr>
              <a:tr h="927652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63"/>
                        </a:lnSpc>
                        <a:buNone/>
                      </a:pPr>
                      <a:endParaRPr lang="en-US" sz="1400" b="0" i="0" u="none" strike="noStrike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Economic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rtl="0" fontAlgn="base">
                        <a:lnSpc>
                          <a:spcPts val="863"/>
                        </a:lnSpc>
                        <a:buFont typeface="Calibri"/>
                        <a:buChar char="-"/>
                      </a:pPr>
                      <a:endParaRPr lang="en-US" sz="1400"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r>
                        <a:rPr lang="en-US" sz="1400">
                          <a:latin typeface="Aptos Display"/>
                        </a:rPr>
                        <a:t>Inflation, tariffs, foreign currency  fluctuations </a:t>
                      </a:r>
                      <a:endParaRPr lang="en-US"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Font typeface="Calibri"/>
                        <a:buNone/>
                      </a:pPr>
                      <a:endParaRPr lang="en-US" sz="1400"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r>
                        <a:rPr lang="en-US" sz="1400">
                          <a:latin typeface="Aptos Display"/>
                        </a:rPr>
                        <a:t>Dependent in general on the well-being of the overall economy and certain </a:t>
                      </a:r>
                      <a:endParaRPr lang="en-US"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None/>
                      </a:pPr>
                      <a:endParaRPr lang="en-US" sz="1400"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Font typeface="Calibri"/>
                        <a:buNone/>
                      </a:pPr>
                      <a:r>
                        <a:rPr lang="en-US" sz="1400">
                          <a:latin typeface="Aptos Display"/>
                        </a:rPr>
                        <a:t>industries </a:t>
                      </a:r>
                      <a:endParaRPr lang="en-US"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endParaRPr lang="en-US" sz="1400"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endParaRPr lang="en-US" sz="1400">
                        <a:latin typeface="Aptos Display"/>
                      </a:endParaRP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buFont typeface="Calibri"/>
                        <a:buChar char="-"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ptos Display"/>
                        </a:rPr>
                        <a:t>Higher labor, technology, compliance costs would increase Airbnb's operating costs, changing consumer ability to pay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7610"/>
                  </a:ext>
                </a:extLst>
              </a:tr>
              <a:tr h="874643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63"/>
                        </a:lnSpc>
                        <a:buNone/>
                      </a:pPr>
                      <a:endParaRPr lang="en-US" sz="1400" b="0" i="0" u="none" strike="noStrike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Social/cultural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"/>
                        <a:buChar char="-"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 Display"/>
                        </a:rPr>
                        <a:t>Global migration</a:t>
                      </a:r>
                    </a:p>
                    <a:p>
                      <a:pPr marL="0" marR="0" lvl="0" indent="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 Display"/>
                        </a:rPr>
                        <a:t>Collaboration with big events, like the FIFA World Cup, across countries and regions</a:t>
                      </a: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 Display"/>
                        </a:rPr>
                        <a:t>Middle-class wanting to avoid tourist trap</a:t>
                      </a:r>
                    </a:p>
                    <a:p>
                      <a:pPr marL="0" marR="0" lvl="0" indent="0" algn="l">
                        <a:lnSpc>
                          <a:spcPts val="863"/>
                        </a:lnSpc>
                        <a:buNone/>
                      </a:pPr>
                      <a:endParaRPr lang="en-US">
                        <a:latin typeface="Aptos Display"/>
                      </a:endParaRP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t">
                        <a:buFont typeface="Calibri"/>
                        <a:buChar char="-"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ptos Display"/>
                        </a:rPr>
                        <a:t>Consumer preference (ex. Preference for unique destinations with no hotel availability)</a:t>
                      </a:r>
                    </a:p>
                    <a:p>
                      <a:pPr marL="171450" marR="0" lvl="0" indent="-171450" algn="l">
                        <a:buFont typeface="Calibri"/>
                        <a:buChar char="-"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ptos Display"/>
                        </a:rPr>
                        <a:t>Increase in remote work also increases travel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58003"/>
                  </a:ext>
                </a:extLst>
              </a:tr>
              <a:tr h="830238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63"/>
                        </a:lnSpc>
                        <a:buNone/>
                      </a:pPr>
                      <a:endParaRPr lang="en-US" sz="1400" b="0" i="0" u="none" strike="noStrike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Technology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rtl="0" fontAlgn="base">
                        <a:lnSpc>
                          <a:spcPts val="863"/>
                        </a:lnSpc>
                        <a:buFont typeface="Calibri"/>
                        <a:buChar char="-"/>
                      </a:pPr>
                      <a:endParaRPr lang="en-US" sz="1400" kern="1200">
                        <a:solidFill>
                          <a:schemeClr val="dk1"/>
                        </a:solidFill>
                        <a:latin typeface="Aptos Display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 Display"/>
                          <a:ea typeface="+mn-ea"/>
                          <a:cs typeface="+mn-cs"/>
                        </a:rPr>
                        <a:t>Dependence on digital platforms (mobile and website), relying on technology to </a:t>
                      </a:r>
                      <a:endParaRPr lang="en-US"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None/>
                      </a:pPr>
                      <a:endParaRPr lang="en-US" sz="1400" kern="1200">
                        <a:solidFill>
                          <a:schemeClr val="dk1"/>
                        </a:solidFill>
                        <a:latin typeface="Aptos Display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Font typeface="Calibri"/>
                        <a:buNone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 Display"/>
                          <a:ea typeface="+mn-ea"/>
                          <a:cs typeface="+mn-cs"/>
                        </a:rPr>
                        <a:t>connect hosts and guests, process payments.</a:t>
                      </a:r>
                      <a:endParaRPr lang="en-US"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Font typeface="Calibri"/>
                        <a:buNone/>
                      </a:pPr>
                      <a:endParaRPr lang="en-US" sz="1400" kern="1200">
                        <a:solidFill>
                          <a:schemeClr val="dk1"/>
                        </a:solidFill>
                        <a:latin typeface="Aptos Display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 Display"/>
                          <a:ea typeface="+mn-ea"/>
                          <a:cs typeface="+mn-cs"/>
                        </a:rPr>
                        <a:t>Effectively uses technology as a middleman between both parties.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t">
                        <a:buFont typeface="Calibri"/>
                        <a:buChar char="-"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ptos Display"/>
                        </a:rPr>
                        <a:t>Easy to use interfaces (e.g. searching, comparing, booking, etc.) and its personalized recommendation using AI, raising the willingness to pay.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794046"/>
                  </a:ext>
                </a:extLst>
              </a:tr>
              <a:tr h="58309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63"/>
                        </a:lnSpc>
                        <a:buNone/>
                      </a:pPr>
                      <a:endParaRPr lang="en-US" sz="1400" b="0" i="0" u="none" strike="noStrike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  <a:p>
                      <a:pPr marL="0" marR="0" lvl="0" indent="0" algn="l">
                        <a:lnSpc>
                          <a:spcPts val="863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Legal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rtl="0" fontAlgn="base">
                        <a:lnSpc>
                          <a:spcPts val="863"/>
                        </a:lnSpc>
                        <a:buFont typeface="Calibri"/>
                        <a:buChar char="-"/>
                      </a:pP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Licensing, taxes, regulations</a:t>
                      </a:r>
                    </a:p>
                    <a:p>
                      <a:pPr marL="0" marR="0" lvl="0" indent="0" algn="l">
                        <a:lnSpc>
                          <a:spcPts val="863"/>
                        </a:lnSpc>
                        <a:buNone/>
                      </a:pP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285750" marR="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Consumer protection and privacy regulations change</a:t>
                      </a: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49197" marR="49197" marT="49197" marB="4919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047401"/>
                  </a:ext>
                </a:extLst>
              </a:tr>
              <a:tr h="39756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863"/>
                        </a:lnSpc>
                        <a:buNone/>
                      </a:pPr>
                      <a:endParaRPr lang="en-US" sz="1400" b="0" i="0" u="none" strike="noStrike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l">
                        <a:lnSpc>
                          <a:spcPts val="863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Environment</a:t>
                      </a:r>
                    </a:p>
                  </a:txBody>
                  <a:tcPr marL="49196" marR="49196" marT="49196" marB="49196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Microsoft Sans Serif"/>
                          <a:cs typeface="Microsoft Sans Serif"/>
                        </a:rPr>
                        <a:t>Climate Change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Microsoft Sans Serif"/>
                          <a:cs typeface="Microsoft Sans Serif"/>
                        </a:rPr>
                        <a:t>Natural disasters (forest fires, hurricanes)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Microsoft Sans Serif"/>
                          <a:cs typeface="Microsoft Sans Serif"/>
                        </a:rPr>
                        <a:t>Extreme Weather</a:t>
                      </a:r>
                      <a:endParaRPr lang="en-US">
                        <a:latin typeface="Aptos Display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Font typeface="Calibri"/>
                        <a:buChar char="-"/>
                      </a:pP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49196" marR="49196" marT="49196" marB="49196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rgbClr val="FF9494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Microsoft Sans Serif"/>
                          <a:cs typeface="Microsoft Sans Serif"/>
                        </a:rPr>
                        <a:t>Climate Change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Microsoft Sans Serif"/>
                          <a:cs typeface="Microsoft Sans Serif"/>
                        </a:rPr>
                        <a:t>Natural disasters (forest fires, hurricanes)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Microsoft Sans Serif"/>
                          <a:cs typeface="Microsoft Sans Serif"/>
                        </a:rPr>
                        <a:t>Extreme Weather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ptos Display"/>
                        <a:ea typeface="Microsoft Sans Serif"/>
                        <a:cs typeface="Microsoft Sans Serif"/>
                      </a:endParaRPr>
                    </a:p>
                    <a:p>
                      <a:pPr marL="285750" lvl="0" indent="-285750" algn="l">
                        <a:lnSpc>
                          <a:spcPts val="863"/>
                        </a:lnSpc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Microsoft Sans Serif"/>
                          <a:cs typeface="Microsoft Sans Serif"/>
                        </a:rPr>
                        <a:t>Carbon footprint reduction</a:t>
                      </a:r>
                      <a:endParaRPr lang="en-US">
                        <a:latin typeface="Aptos Display"/>
                      </a:endParaRPr>
                    </a:p>
                  </a:txBody>
                  <a:tcPr marL="49196" marR="49196" marT="49196" marB="49196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rgbClr val="FF94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41540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DE31CB1-2D56-739C-E056-251B558882C0}"/>
              </a:ext>
            </a:extLst>
          </p:cNvPr>
          <p:cNvSpPr txBox="1"/>
          <p:nvPr/>
        </p:nvSpPr>
        <p:spPr>
          <a:xfrm>
            <a:off x="5246336" y="21330"/>
            <a:ext cx="187465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accent3"/>
                </a:solidFill>
                <a:ea typeface="+mn-lt"/>
                <a:cs typeface="+mn-lt"/>
              </a:rPr>
              <a:t>P</a:t>
            </a:r>
            <a:r>
              <a:rPr lang="en-US" sz="3200" b="1">
                <a:solidFill>
                  <a:schemeClr val="accent5"/>
                </a:solidFill>
                <a:ea typeface="+mn-lt"/>
                <a:cs typeface="+mn-lt"/>
              </a:rPr>
              <a:t>E</a:t>
            </a:r>
            <a:r>
              <a:rPr lang="en-US" sz="3200" b="1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S</a:t>
            </a:r>
            <a:r>
              <a:rPr lang="en-US" sz="3200" b="1">
                <a:solidFill>
                  <a:schemeClr val="accent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T</a:t>
            </a:r>
            <a:r>
              <a:rPr lang="en-US" sz="32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L</a:t>
            </a:r>
            <a:r>
              <a:rPr lang="en-US" sz="3200" b="1">
                <a:solidFill>
                  <a:schemeClr val="accent5">
                    <a:lumMod val="76000"/>
                  </a:schemeClr>
                </a:solidFill>
                <a:ea typeface="+mn-lt"/>
                <a:cs typeface="+mn-lt"/>
              </a:rPr>
              <a:t>E</a:t>
            </a:r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9291C1-CC79-B72C-A895-E3E28CA5B51A}"/>
              </a:ext>
            </a:extLst>
          </p:cNvPr>
          <p:cNvSpPr txBox="1"/>
          <p:nvPr/>
        </p:nvSpPr>
        <p:spPr>
          <a:xfrm>
            <a:off x="3138100" y="572076"/>
            <a:ext cx="21969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Airbnb offers </a:t>
            </a:r>
            <a:r>
              <a:rPr lang="en-US" sz="1200" b="1"/>
              <a:t>low-cost</a:t>
            </a:r>
            <a:r>
              <a:rPr lang="en-US" sz="1200"/>
              <a:t> rentals for people who're seeking </a:t>
            </a:r>
            <a:r>
              <a:rPr lang="en-US" sz="1200" b="1"/>
              <a:t>local </a:t>
            </a:r>
            <a:r>
              <a:rPr lang="en-US" sz="1200"/>
              <a:t>experiences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FD030D-C504-D967-2B13-B2934AF6EBF1}"/>
              </a:ext>
            </a:extLst>
          </p:cNvPr>
          <p:cNvSpPr txBox="1"/>
          <p:nvPr/>
        </p:nvSpPr>
        <p:spPr>
          <a:xfrm>
            <a:off x="5161727" y="791963"/>
            <a:ext cx="20418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Airbnb seeks to build </a:t>
            </a:r>
            <a:r>
              <a:rPr lang="en-US" sz="1200" b="1"/>
              <a:t>relationships </a:t>
            </a:r>
            <a:r>
              <a:rPr lang="en-US" sz="1200"/>
              <a:t>between hosts and visitors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35B6C2-5B92-2CD3-EE30-99F4A6B5B498}"/>
              </a:ext>
            </a:extLst>
          </p:cNvPr>
          <p:cNvCxnSpPr/>
          <p:nvPr/>
        </p:nvCxnSpPr>
        <p:spPr>
          <a:xfrm flipV="1">
            <a:off x="5259478" y="478554"/>
            <a:ext cx="454216" cy="229177"/>
          </a:xfrm>
          <a:prstGeom prst="straightConnector1">
            <a:avLst/>
          </a:prstGeom>
          <a:ln>
            <a:solidFill>
              <a:srgbClr val="FF94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B2561F-EC0B-E4F5-C08E-B7C8B42A9650}"/>
              </a:ext>
            </a:extLst>
          </p:cNvPr>
          <p:cNvCxnSpPr/>
          <p:nvPr/>
        </p:nvCxnSpPr>
        <p:spPr>
          <a:xfrm flipV="1">
            <a:off x="6054509" y="523096"/>
            <a:ext cx="12018" cy="271986"/>
          </a:xfrm>
          <a:prstGeom prst="straightConnector1">
            <a:avLst/>
          </a:prstGeom>
          <a:ln>
            <a:solidFill>
              <a:srgbClr val="FF94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0EABC6B-0DEF-6CAD-AFF0-25E1AE65F79B}"/>
              </a:ext>
            </a:extLst>
          </p:cNvPr>
          <p:cNvSpPr txBox="1"/>
          <p:nvPr/>
        </p:nvSpPr>
        <p:spPr>
          <a:xfrm>
            <a:off x="6940582" y="602217"/>
            <a:ext cx="21902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Airbnb functions as </a:t>
            </a:r>
            <a:r>
              <a:rPr lang="en-US" sz="1200" b="1"/>
              <a:t>website </a:t>
            </a:r>
            <a:r>
              <a:rPr lang="en-US" sz="1200"/>
              <a:t>and </a:t>
            </a:r>
            <a:r>
              <a:rPr lang="en-US" sz="1200" b="1"/>
              <a:t>app</a:t>
            </a:r>
            <a:r>
              <a:rPr lang="en-US" sz="1200"/>
              <a:t>, more service-based system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8ED1019-5B7A-2C0C-F9F7-12E84D475D4B}"/>
              </a:ext>
            </a:extLst>
          </p:cNvPr>
          <p:cNvCxnSpPr/>
          <p:nvPr/>
        </p:nvCxnSpPr>
        <p:spPr>
          <a:xfrm flipH="1" flipV="1">
            <a:off x="6300298" y="445079"/>
            <a:ext cx="627509" cy="318062"/>
          </a:xfrm>
          <a:prstGeom prst="straightConnector1">
            <a:avLst/>
          </a:prstGeom>
          <a:ln>
            <a:solidFill>
              <a:srgbClr val="FF94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on a pink background&#10;&#10;AI-generated content may be incorrect.">
            <a:extLst>
              <a:ext uri="{FF2B5EF4-FFF2-40B4-BE49-F238E27FC236}">
                <a16:creationId xmlns:a16="http://schemas.microsoft.com/office/drawing/2014/main" id="{0BD5C684-6FC0-FB89-6941-A792E24CB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5" t="12498" r="8805" b="9648"/>
          <a:stretch>
            <a:fillRect/>
          </a:stretch>
        </p:blipFill>
        <p:spPr>
          <a:xfrm>
            <a:off x="412636" y="837"/>
            <a:ext cx="1099434" cy="152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61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Airbnb Inc</vt:lpstr>
      <vt:lpstr>Executive Summary</vt:lpstr>
      <vt:lpstr>Airbnb Analysis</vt:lpstr>
      <vt:lpstr>Economics</vt:lpstr>
      <vt:lpstr>Marketing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117</cp:revision>
  <dcterms:created xsi:type="dcterms:W3CDTF">2026-06-15T22:17:46Z</dcterms:created>
  <dcterms:modified xsi:type="dcterms:W3CDTF">2026-06-17T22:58:00Z</dcterms:modified>
</cp:coreProperties>
</file>